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bằng vấn đề khi ký, không mở bằng market-size. Bản tập tham chiếu 4 phút; xác nhận thời lượng thực tế với BTC. Track trong hồ sơ cũ chưa xác nhận cập nhật.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nói mọi ví thương mại chỉ đọc balance delta. Đây là giới hạn của baseline được mô tả, không phải so sánh với sản phẩm chưa kiểm.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demo Nhận quà tặng. Chỉ vào token chuyển đi và owner đổi. Mở Chi tiết kỹ thuật: rule/reason có sẵn, luật 1 chưa có trace dữ kiện có cấu trúc. Không nói giao dịch đã gửi: demo chỉ mô phỏng. Sau đó mở ca Gửi 10 token làm đối chứng.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phải dựa trên cùng lượt đo. Không gọi lại RPC rồi ghép dữ liệu mới vào verdict cũ. Simulation là quan sát tại thời điểm đọc, không bảo đảm trạng thái khi thực thi sau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Trả lời ai chặn ký bằng code consumer. Lỗi xác nhận, mất phản hồi và message cũ đều có trạng thái riêng; đừng nói exactly-once trên toàn mạng.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kết quả B06 nếu bị hỏi. Không dùng verdict của Custos tự tạo nhãn để chứng minh Custos đúng. Nêu cả ca không thêm lợi ích.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kết quả đo hiện hành, kèm ngày/revision. Live smoke suite không có nghĩa toàn bộ manifest đã chạy trên Devnet. Mẫu không chạy được phải giữ mẫu số và lý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gọi đây là third-party adoption. Chỉ nêu thời gian cài đặt/lượt inspect nếu mở đúng artifact mới nhất. Đọc đủ phạm vi của số dòng tích hợp: phần policy/signing có file riêng.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nói type TypeScript chứng minh model luôn an toàn. Lời giải thích sai vẫn có thể tác động người dùng dù level không đổi. Không gọi advisory đã xử trí là đã vá.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phần chính ở đây. Các slide sau dành cho Q&amp;A, không đưa nội dung thị trường vào phần chính nếu chưa có bằng chứng.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Giữ ranh giới phạm vi đã khóa. Nếu BTC yêu cầu khác, đội cần quyết định sản phẩm riêng, không thêm contract trang trí vào phút cuối.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Chỉ dùng khi bị hỏi mô hình kinh doanh. Không suy ra market validation từ việc SDK chạy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B31"/>
        </a:solidFill>
      </p:bgPr>
    </p:bg>
    <p:spTree>
      <p:nvGrpSpPr>
        <p:cNvPr id="1" name=""/>
        <p:cNvGrpSpPr/>
        <p:nvPr/>
      </p:nvGrpSpPr>
      <p:grpSpPr>
        <a:xfrm>
          <a:off x="0" y="0"/>
          <a:ext cx="0" cy="0"/>
          <a:chOff x="0" y="0"/>
          <a:chExt cx="0" cy="0"/>
        </a:xfrm>
      </p:grpSpPr>
      <p:sp>
        <p:nvSpPr>
          <p:cNvPr id="2" name="Text 0"/>
          <p:cNvSpPr/>
          <p:nvPr/>
        </p:nvSpPr>
        <p:spPr>
          <a:xfrm>
            <a:off x="594360" y="320040"/>
            <a:ext cx="10972800" cy="274320"/>
          </a:xfrm>
          <a:prstGeom prst="rect">
            <a:avLst/>
          </a:prstGeom>
          <a:noFill/>
          <a:ln/>
        </p:spPr>
        <p:txBody>
          <a:bodyPr wrap="square" lIns="0" tIns="0" rIns="0" bIns="0" rtlCol="0" anchor="t"/>
          <a:lstStyle/>
          <a:p>
            <a:pPr indent="0" marL="0">
              <a:buNone/>
            </a:pPr>
            <a:r>
              <a:rPr lang="en-US" sz="1200" b="1" dirty="0">
                <a:solidFill>
                  <a:srgbClr val="A7B7E5"/>
                </a:solidFill>
                <a:latin typeface="Calibri" pitchFamily="34" charset="0"/>
                <a:ea typeface="Calibri" pitchFamily="34" charset="-122"/>
                <a:cs typeface="Calibri" pitchFamily="34" charset="-120"/>
              </a:rPr>
              <a:t>CUSTOS   /   01 / MỞ ĐẦU</a:t>
            </a:r>
            <a:endParaRPr lang="en-US" sz="1200" dirty="0"/>
          </a:p>
        </p:txBody>
      </p:sp>
      <p:sp>
        <p:nvSpPr>
          <p:cNvPr id="3" name="Text 1"/>
          <p:cNvSpPr/>
          <p:nvPr/>
        </p:nvSpPr>
        <p:spPr>
          <a:xfrm>
            <a:off x="594360" y="868680"/>
            <a:ext cx="10972800" cy="1024128"/>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Hiểu hậu quả trước khi ký.</a:t>
            </a:r>
            <a:endParaRPr lang="en-US" sz="3400" dirty="0"/>
          </a:p>
        </p:txBody>
      </p:sp>
      <p:sp>
        <p:nvSpPr>
          <p:cNvPr id="4" name="Text 2"/>
          <p:cNvSpPr/>
          <p:nvPr/>
        </p:nvSpPr>
        <p:spPr>
          <a:xfrm>
            <a:off x="594360" y="1856232"/>
            <a:ext cx="10972800" cy="594360"/>
          </a:xfrm>
          <a:prstGeom prst="rect">
            <a:avLst/>
          </a:prstGeom>
          <a:noFill/>
          <a:ln/>
        </p:spPr>
        <p:txBody>
          <a:bodyPr wrap="square" lIns="0" tIns="0" rIns="0" bIns="0" rtlCol="0" anchor="t"/>
          <a:lstStyle/>
          <a:p>
            <a:pPr indent="0" marL="0">
              <a:buNone/>
            </a:pPr>
            <a:r>
              <a:rPr lang="en-US" sz="1800" dirty="0">
                <a:solidFill>
                  <a:srgbClr val="C9D3EA"/>
                </a:solidFill>
                <a:latin typeface="Calibri" pitchFamily="34" charset="0"/>
                <a:ea typeface="Calibri" pitchFamily="34" charset="-122"/>
                <a:cs typeface="Calibri" pitchFamily="34" charset="-120"/>
              </a:rPr>
              <a:t>Transaction-intelligence SDK cho ví và dApp Solana</a:t>
            </a:r>
            <a:endParaRPr lang="en-US" sz="1800" dirty="0"/>
          </a:p>
        </p:txBody>
      </p:sp>
      <p:sp>
        <p:nvSpPr>
          <p:cNvPr id="5" name="Text 3"/>
          <p:cNvSpPr/>
          <p:nvPr/>
        </p:nvSpPr>
        <p:spPr>
          <a:xfrm>
            <a:off x="594360" y="6245352"/>
            <a:ext cx="10881360" cy="347472"/>
          </a:xfrm>
          <a:prstGeom prst="rect">
            <a:avLst/>
          </a:prstGeom>
          <a:noFill/>
          <a:ln/>
        </p:spPr>
        <p:txBody>
          <a:bodyPr wrap="square" lIns="0" tIns="0" rIns="0" bIns="0" rtlCol="0" anchor="t"/>
          <a:lstStyle/>
          <a:p>
            <a:pPr indent="0" marL="0">
              <a:buNone/>
            </a:pPr>
            <a:r>
              <a:rPr lang="en-US" sz="1000" dirty="0">
                <a:solidFill>
                  <a:srgbClr val="A7B7E5"/>
                </a:solidFill>
                <a:latin typeface="Calibri" pitchFamily="34" charset="0"/>
                <a:ea typeface="Calibri" pitchFamily="34" charset="-122"/>
                <a:cs typeface="Calibri" pitchFamily="34" charset="-120"/>
              </a:rPr>
              <a:t>Hướng phát triển: Best Technical Build · đăng ký BTC chưa xác nhận đổi · thời lượng vòng hiện tại chưa xác nhận</a:t>
            </a:r>
            <a:endParaRPr lang="en-US" sz="1000" dirty="0"/>
          </a:p>
        </p:txBody>
      </p:sp>
      <p:sp>
        <p:nvSpPr>
          <p:cNvPr id="6" name="Text 4"/>
          <p:cNvSpPr/>
          <p:nvPr/>
        </p:nvSpPr>
        <p:spPr>
          <a:xfrm>
            <a:off x="640080" y="2743200"/>
            <a:ext cx="9784080" cy="137160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Đo được gì, nói rõ điều đó.</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Chưa hiểu gì, giữ lại giới hạn.</a:t>
            </a:r>
            <a:endParaRPr lang="en-US" sz="3600" dirty="0"/>
          </a:p>
        </p:txBody>
      </p:sp>
      <p:sp>
        <p:nvSpPr>
          <p:cNvPr id="7" name="Text 5"/>
          <p:cNvSpPr/>
          <p:nvPr/>
        </p:nvSpPr>
        <p:spPr>
          <a:xfrm>
            <a:off x="640080" y="5029200"/>
            <a:ext cx="10698480" cy="457200"/>
          </a:xfrm>
          <a:prstGeom prst="rect">
            <a:avLst/>
          </a:prstGeom>
          <a:noFill/>
          <a:ln/>
        </p:spPr>
        <p:txBody>
          <a:bodyPr wrap="square" lIns="0" tIns="0" rIns="0" bIns="0" rtlCol="0" anchor="t"/>
          <a:lstStyle/>
          <a:p>
            <a:pPr indent="0" marL="0">
              <a:buNone/>
            </a:pPr>
            <a:r>
              <a:rPr lang="en-US" sz="2200" dirty="0">
                <a:solidFill>
                  <a:srgbClr val="B6C8FF"/>
                </a:solidFill>
                <a:latin typeface="Calibri" pitchFamily="34" charset="0"/>
                <a:ea typeface="Calibri" pitchFamily="34" charset="-122"/>
                <a:cs typeface="Calibri" pitchFamily="34" charset="-120"/>
              </a:rPr>
              <a:t>Mô phỏng → dữ kiện → luật → bằng chứng → quyết định của ví</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10972800" cy="274320"/>
          </a:xfrm>
          <a:prstGeom prst="rect">
            <a:avLst/>
          </a:prstGeom>
          <a:noFill/>
          <a:ln/>
        </p:spPr>
        <p:txBody>
          <a:bodyPr wrap="square" lIns="0" tIns="0" rIns="0" bIns="0" rtlCol="0" anchor="t"/>
          <a:lstStyle/>
          <a:p>
            <a:pPr indent="0" marL="0">
              <a:buNone/>
            </a:pPr>
            <a:r>
              <a:rPr lang="en-US" sz="1200" b="1" dirty="0">
                <a:solidFill>
                  <a:srgbClr val="3348B8"/>
                </a:solidFill>
                <a:latin typeface="Calibri" pitchFamily="34" charset="0"/>
                <a:ea typeface="Calibri" pitchFamily="34" charset="-122"/>
                <a:cs typeface="Calibri" pitchFamily="34" charset="-120"/>
              </a:rPr>
              <a:t>CUSTOS   /   02 / BÀI TOÁN</a:t>
            </a:r>
            <a:endParaRPr lang="en-US" sz="1200" dirty="0"/>
          </a:p>
        </p:txBody>
      </p:sp>
      <p:sp>
        <p:nvSpPr>
          <p:cNvPr id="3" name="Text 1"/>
          <p:cNvSpPr/>
          <p:nvPr/>
        </p:nvSpPr>
        <p:spPr>
          <a:xfrm>
            <a:off x="594360" y="868680"/>
            <a:ext cx="10972800" cy="1024128"/>
          </a:xfrm>
          <a:prstGeom prst="rect">
            <a:avLst/>
          </a:prstGeom>
          <a:noFill/>
          <a:ln/>
        </p:spPr>
        <p:txBody>
          <a:bodyPr wrap="square" lIns="0" tIns="0" rIns="0" bIns="0" rtlCol="0" anchor="t"/>
          <a:lstStyle/>
          <a:p>
            <a:pPr indent="0" marL="0">
              <a:buNone/>
            </a:pPr>
            <a:r>
              <a:rPr lang="en-US" sz="3400" b="1" dirty="0">
                <a:solidFill>
                  <a:srgbClr val="172033"/>
                </a:solidFill>
                <a:latin typeface="Calibri" pitchFamily="34" charset="0"/>
                <a:ea typeface="Calibri" pitchFamily="34" charset="-122"/>
                <a:cs typeface="Calibri" pitchFamily="34" charset="-120"/>
              </a:rPr>
              <a:t>Số dư không đổi. Quyền kiểm soát có thể đổi.</a:t>
            </a:r>
            <a:endParaRPr lang="en-US" sz="3400" dirty="0"/>
          </a:p>
        </p:txBody>
      </p:sp>
      <p:sp>
        <p:nvSpPr>
          <p:cNvPr id="4" name="Text 2"/>
          <p:cNvSpPr/>
          <p:nvPr/>
        </p:nvSpPr>
        <p:spPr>
          <a:xfrm>
            <a:off x="594360" y="1856232"/>
            <a:ext cx="10972800" cy="594360"/>
          </a:xfrm>
          <a:prstGeom prst="rect">
            <a:avLst/>
          </a:prstGeom>
          <a:noFill/>
          <a:ln/>
        </p:spPr>
        <p:txBody>
          <a:bodyPr wrap="square" lIns="0" tIns="0" rIns="0" bIns="0" rtlCol="0" anchor="t"/>
          <a:lstStyle/>
          <a:p>
            <a:pPr indent="0" marL="0">
              <a:buNone/>
            </a:pPr>
            <a:r>
              <a:rPr lang="en-US" sz="1800" dirty="0">
                <a:solidFill>
                  <a:srgbClr val="536079"/>
                </a:solidFill>
                <a:latin typeface="Calibri" pitchFamily="34" charset="0"/>
                <a:ea typeface="Calibri" pitchFamily="34" charset="-122"/>
                <a:cs typeface="Calibri" pitchFamily="34" charset="-120"/>
              </a:rPr>
              <a:t>Đó là lý do chỉ nhìn số tiền chưa đủ.</a:t>
            </a:r>
            <a:endParaRPr lang="en-US" sz="1800" dirty="0"/>
          </a:p>
        </p:txBody>
      </p:sp>
      <p:sp>
        <p:nvSpPr>
          <p:cNvPr id="5" name="Text 3"/>
          <p:cNvSpPr/>
          <p:nvPr/>
        </p:nvSpPr>
        <p:spPr>
          <a:xfrm>
            <a:off x="594360" y="6245352"/>
            <a:ext cx="10881360" cy="347472"/>
          </a:xfrm>
          <a:prstGeom prst="rect">
            <a:avLst/>
          </a:prstGeom>
          <a:noFill/>
          <a:ln/>
        </p:spPr>
        <p:txBody>
          <a:bodyPr wrap="square" lIns="0" tIns="0" rIns="0" bIns="0" rtlCol="0" anchor="t"/>
          <a:lstStyle/>
          <a:p>
            <a:pPr indent="0" marL="0">
              <a:buNone/>
            </a:pPr>
            <a:r>
              <a:rPr lang="en-US" sz="1000" dirty="0">
                <a:solidFill>
                  <a:srgbClr val="536079"/>
                </a:solidFill>
                <a:latin typeface="Calibri" pitchFamily="34" charset="0"/>
                <a:ea typeface="Calibri" pitchFamily="34" charset="-122"/>
                <a:cs typeface="Calibri" pitchFamily="34" charset="-120"/>
              </a:rPr>
              <a:t>Nguồn: core/src/diff.ts · scripts/ky-thuat/so-baseline-b06.ts</a:t>
            </a:r>
            <a:endParaRPr lang="en-US" sz="1000" dirty="0"/>
          </a:p>
        </p:txBody>
      </p:sp>
      <p:sp>
        <p:nvSpPr>
          <p:cNvPr id="6" name="Shape 4"/>
          <p:cNvSpPr/>
          <p:nvPr/>
        </p:nvSpPr>
        <p:spPr>
          <a:xfrm>
            <a:off x="640080" y="2743200"/>
            <a:ext cx="5257800" cy="2286000"/>
          </a:xfrm>
          <a:prstGeom prst="roundRect">
            <a:avLst>
              <a:gd name="adj" fmla="val 6400"/>
            </a:avLst>
          </a:prstGeom>
          <a:solidFill>
            <a:srgbClr val="F1F4FA"/>
          </a:solidFill>
          <a:ln w="12700">
            <a:solidFill>
              <a:srgbClr val="F1F4FA">
                <a:alpha val="0"/>
              </a:srgbClr>
            </a:solidFill>
            <a:prstDash val="solid"/>
          </a:ln>
        </p:spPr>
      </p:sp>
      <p:sp>
        <p:nvSpPr>
          <p:cNvPr id="7" name="Text 5"/>
          <p:cNvSpPr/>
          <p:nvPr/>
        </p:nvSpPr>
        <p:spPr>
          <a:xfrm>
            <a:off x="841248" y="2944368"/>
            <a:ext cx="4855464" cy="548640"/>
          </a:xfrm>
          <a:prstGeom prst="rect">
            <a:avLst/>
          </a:prstGeom>
          <a:noFill/>
          <a:ln/>
        </p:spPr>
        <p:txBody>
          <a:bodyPr wrap="square" lIns="0" tIns="0" rIns="0" bIns="0" rtlCol="0" anchor="t"/>
          <a:lstStyle/>
          <a:p>
            <a:pPr indent="0" marL="0">
              <a:buNone/>
            </a:pPr>
            <a:r>
              <a:rPr lang="en-US" sz="2200" b="1" dirty="0">
                <a:solidFill>
                  <a:srgbClr val="B52046"/>
                </a:solidFill>
                <a:latin typeface="Calibri" pitchFamily="34" charset="0"/>
                <a:ea typeface="Calibri" pitchFamily="34" charset="-122"/>
                <a:cs typeface="Calibri" pitchFamily="34" charset="-120"/>
              </a:rPr>
              <a:t>CHỈ ĐỔI QUYỀN</a:t>
            </a:r>
            <a:endParaRPr lang="en-US" sz="2200" dirty="0"/>
          </a:p>
        </p:txBody>
      </p:sp>
      <p:sp>
        <p:nvSpPr>
          <p:cNvPr id="8" name="Text 6"/>
          <p:cNvSpPr/>
          <p:nvPr/>
        </p:nvSpPr>
        <p:spPr>
          <a:xfrm>
            <a:off x="841248" y="3611880"/>
            <a:ext cx="4855464" cy="1188720"/>
          </a:xfrm>
          <a:prstGeom prst="rect">
            <a:avLst/>
          </a:prstGeom>
          <a:noFill/>
          <a:ln/>
        </p:spPr>
        <p:txBody>
          <a:bodyPr wrap="square" lIns="0" tIns="0" rIns="0" bIns="0" rtlCol="0" anchor="t"/>
          <a:lstStyle/>
          <a:p>
            <a:pPr indent="0" marL="0">
              <a:buNone/>
            </a:pPr>
            <a:r>
              <a:rPr lang="en-US" sz="1800" dirty="0">
                <a:solidFill>
                  <a:srgbClr val="172033"/>
                </a:solidFill>
                <a:latin typeface="Calibri" pitchFamily="34" charset="0"/>
                <a:ea typeface="Calibri" pitchFamily="34" charset="-122"/>
                <a:cs typeface="Calibri" pitchFamily="34" charset="-120"/>
              </a:rPr>
              <a:t>SetAuthority có thể đổi owner mà không chuyển số dư.</a:t>
            </a:r>
            <a:endParaRPr lang="en-US" sz="1800" dirty="0"/>
          </a:p>
        </p:txBody>
      </p:sp>
      <p:sp>
        <p:nvSpPr>
          <p:cNvPr id="9" name="Shape 7"/>
          <p:cNvSpPr/>
          <p:nvPr/>
        </p:nvSpPr>
        <p:spPr>
          <a:xfrm>
            <a:off x="6263640" y="2743200"/>
            <a:ext cx="5257800" cy="2286000"/>
          </a:xfrm>
          <a:prstGeom prst="roundRect">
            <a:avLst>
              <a:gd name="adj" fmla="val 6400"/>
            </a:avLst>
          </a:prstGeom>
          <a:solidFill>
            <a:srgbClr val="F1F4FA"/>
          </a:solidFill>
          <a:ln w="12700">
            <a:solidFill>
              <a:srgbClr val="F1F4FA">
                <a:alpha val="0"/>
              </a:srgbClr>
            </a:solidFill>
            <a:prstDash val="solid"/>
          </a:ln>
        </p:spPr>
      </p:sp>
      <p:sp>
        <p:nvSpPr>
          <p:cNvPr id="10" name="Text 8"/>
          <p:cNvSpPr/>
          <p:nvPr/>
        </p:nvSpPr>
        <p:spPr>
          <a:xfrm>
            <a:off x="6464808" y="2944368"/>
            <a:ext cx="4855464" cy="548640"/>
          </a:xfrm>
          <a:prstGeom prst="rect">
            <a:avLst/>
          </a:prstGeom>
          <a:noFill/>
          <a:ln/>
        </p:spPr>
        <p:txBody>
          <a:bodyPr wrap="square" lIns="0" tIns="0" rIns="0" bIns="0" rtlCol="0" anchor="t"/>
          <a:lstStyle/>
          <a:p>
            <a:pPr indent="0" marL="0">
              <a:buNone/>
            </a:pPr>
            <a:r>
              <a:rPr lang="en-US" sz="2200" b="1" dirty="0">
                <a:solidFill>
                  <a:srgbClr val="3348B8"/>
                </a:solidFill>
                <a:latin typeface="Calibri" pitchFamily="34" charset="0"/>
                <a:ea typeface="Calibri" pitchFamily="34" charset="-122"/>
                <a:cs typeface="Calibri" pitchFamily="34" charset="-120"/>
              </a:rPr>
              <a:t>PHẢI ĐỌC ĐÚNG HẬU QUẢ</a:t>
            </a:r>
            <a:endParaRPr lang="en-US" sz="2200" dirty="0"/>
          </a:p>
        </p:txBody>
      </p:sp>
      <p:sp>
        <p:nvSpPr>
          <p:cNvPr id="11" name="Text 9"/>
          <p:cNvSpPr/>
          <p:nvPr/>
        </p:nvSpPr>
        <p:spPr>
          <a:xfrm>
            <a:off x="6464808" y="3611880"/>
            <a:ext cx="4855464" cy="1188720"/>
          </a:xfrm>
          <a:prstGeom prst="rect">
            <a:avLst/>
          </a:prstGeom>
          <a:noFill/>
          <a:ln/>
        </p:spPr>
        <p:txBody>
          <a:bodyPr wrap="square" lIns="0" tIns="0" rIns="0" bIns="0" rtlCol="0" anchor="t"/>
          <a:lstStyle/>
          <a:p>
            <a:pPr indent="0" marL="0">
              <a:buNone/>
            </a:pPr>
            <a:r>
              <a:rPr lang="en-US" sz="1800" dirty="0">
                <a:solidFill>
                  <a:srgbClr val="172033"/>
                </a:solidFill>
                <a:latin typeface="Calibri" pitchFamily="34" charset="0"/>
                <a:ea typeface="Calibri" pitchFamily="34" charset="-122"/>
                <a:cs typeface="Calibri" pitchFamily="34" charset="-120"/>
              </a:rPr>
              <a:t>Chỉ vẽ số dư giảm khi transaction thực sự làm giảm số dư.</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10972800" cy="274320"/>
          </a:xfrm>
          <a:prstGeom prst="rect">
            <a:avLst/>
          </a:prstGeom>
          <a:noFill/>
          <a:ln/>
        </p:spPr>
        <p:txBody>
          <a:bodyPr wrap="square" lIns="0" tIns="0" rIns="0" bIns="0" rtlCol="0" anchor="t"/>
          <a:lstStyle/>
          <a:p>
            <a:pPr indent="0" marL="0">
              <a:buNone/>
            </a:pPr>
            <a:r>
              <a:rPr lang="en-US" sz="1200" b="1" dirty="0">
                <a:solidFill>
                  <a:srgbClr val="3348B8"/>
                </a:solidFill>
                <a:latin typeface="Calibri" pitchFamily="34" charset="0"/>
                <a:ea typeface="Calibri" pitchFamily="34" charset="-122"/>
                <a:cs typeface="Calibri" pitchFamily="34" charset="-120"/>
              </a:rPr>
              <a:t>CUSTOS   /   03 / DEMO</a:t>
            </a:r>
            <a:endParaRPr lang="en-US" sz="1200" dirty="0"/>
          </a:p>
        </p:txBody>
      </p:sp>
      <p:sp>
        <p:nvSpPr>
          <p:cNvPr id="3" name="Text 1"/>
          <p:cNvSpPr/>
          <p:nvPr/>
        </p:nvSpPr>
        <p:spPr>
          <a:xfrm>
            <a:off x="594360" y="868680"/>
            <a:ext cx="10972800" cy="1024128"/>
          </a:xfrm>
          <a:prstGeom prst="rect">
            <a:avLst/>
          </a:prstGeom>
          <a:noFill/>
          <a:ln/>
        </p:spPr>
        <p:txBody>
          <a:bodyPr wrap="square" lIns="0" tIns="0" rIns="0" bIns="0" rtlCol="0" anchor="t"/>
          <a:lstStyle/>
          <a:p>
            <a:pPr indent="0" marL="0">
              <a:buNone/>
            </a:pPr>
            <a:r>
              <a:rPr lang="en-US" sz="3400" b="1" dirty="0">
                <a:solidFill>
                  <a:srgbClr val="172033"/>
                </a:solidFill>
                <a:latin typeface="Calibri" pitchFamily="34" charset="0"/>
                <a:ea typeface="Calibri" pitchFamily="34" charset="-122"/>
                <a:cs typeface="Calibri" pitchFamily="34" charset="-120"/>
              </a:rPr>
              <a:t>Một lời mời nhận quà. Hai hậu quả.</a:t>
            </a:r>
            <a:endParaRPr lang="en-US" sz="3400" dirty="0"/>
          </a:p>
        </p:txBody>
      </p:sp>
      <p:sp>
        <p:nvSpPr>
          <p:cNvPr id="4" name="Text 2"/>
          <p:cNvSpPr/>
          <p:nvPr/>
        </p:nvSpPr>
        <p:spPr>
          <a:xfrm>
            <a:off x="594360" y="1856232"/>
            <a:ext cx="10972800" cy="594360"/>
          </a:xfrm>
          <a:prstGeom prst="rect">
            <a:avLst/>
          </a:prstGeom>
          <a:noFill/>
          <a:ln/>
        </p:spPr>
        <p:txBody>
          <a:bodyPr wrap="square" lIns="0" tIns="0" rIns="0" bIns="0" rtlCol="0" anchor="t"/>
          <a:lstStyle/>
          <a:p>
            <a:pPr indent="0" marL="0">
              <a:buNone/>
            </a:pPr>
            <a:r>
              <a:rPr lang="en-US" sz="1800" dirty="0">
                <a:solidFill>
                  <a:srgbClr val="536079"/>
                </a:solidFill>
                <a:latin typeface="Calibri" pitchFamily="34" charset="0"/>
                <a:ea typeface="Calibri" pitchFamily="34" charset="-122"/>
                <a:cs typeface="Calibri" pitchFamily="34" charset="-120"/>
              </a:rPr>
              <a:t>Chạy trực tiếp trên ví mẫu — Devnet, transaction chưa ký.</a:t>
            </a:r>
            <a:endParaRPr lang="en-US" sz="1800" dirty="0"/>
          </a:p>
        </p:txBody>
      </p:sp>
      <p:sp>
        <p:nvSpPr>
          <p:cNvPr id="5" name="Text 3"/>
          <p:cNvSpPr/>
          <p:nvPr/>
        </p:nvSpPr>
        <p:spPr>
          <a:xfrm>
            <a:off x="594360" y="6245352"/>
            <a:ext cx="10881360" cy="347472"/>
          </a:xfrm>
          <a:prstGeom prst="rect">
            <a:avLst/>
          </a:prstGeom>
          <a:noFill/>
          <a:ln/>
        </p:spPr>
        <p:txBody>
          <a:bodyPr wrap="square" lIns="0" tIns="0" rIns="0" bIns="0" rtlCol="0" anchor="t"/>
          <a:lstStyle/>
          <a:p>
            <a:pPr indent="0" marL="0">
              <a:buNone/>
            </a:pPr>
            <a:r>
              <a:rPr lang="en-US" sz="1000" dirty="0">
                <a:solidFill>
                  <a:srgbClr val="536079"/>
                </a:solidFill>
                <a:latin typeface="Calibri" pitchFamily="34" charset="0"/>
                <a:ea typeface="Calibri" pitchFamily="34" charset="-122"/>
                <a:cs typeface="Calibri" pitchFamily="34" charset="-120"/>
              </a:rPr>
              <a:t>Nguồn: hien-truong.json · scripts/tan-cong.ts · evidence TB-B07</a:t>
            </a:r>
            <a:endParaRPr lang="en-US" sz="1000" dirty="0"/>
          </a:p>
        </p:txBody>
      </p:sp>
      <p:sp>
        <p:nvSpPr>
          <p:cNvPr id="6" name="Shape 4"/>
          <p:cNvSpPr/>
          <p:nvPr/>
        </p:nvSpPr>
        <p:spPr>
          <a:xfrm>
            <a:off x="640080" y="2743200"/>
            <a:ext cx="3520440" cy="2286000"/>
          </a:xfrm>
          <a:prstGeom prst="roundRect">
            <a:avLst>
              <a:gd name="adj" fmla="val 6400"/>
            </a:avLst>
          </a:prstGeom>
          <a:solidFill>
            <a:srgbClr val="F1F4FA"/>
          </a:solidFill>
          <a:ln w="12700">
            <a:solidFill>
              <a:srgbClr val="F1F4FA">
                <a:alpha val="0"/>
              </a:srgbClr>
            </a:solidFill>
            <a:prstDash val="solid"/>
          </a:ln>
        </p:spPr>
      </p:sp>
      <p:sp>
        <p:nvSpPr>
          <p:cNvPr id="7" name="Text 5"/>
          <p:cNvSpPr/>
          <p:nvPr/>
        </p:nvSpPr>
        <p:spPr>
          <a:xfrm>
            <a:off x="841248" y="2944368"/>
            <a:ext cx="3118104" cy="548640"/>
          </a:xfrm>
          <a:prstGeom prst="rect">
            <a:avLst/>
          </a:prstGeom>
          <a:noFill/>
          <a:ln/>
        </p:spPr>
        <p:txBody>
          <a:bodyPr wrap="square" lIns="0" tIns="0" rIns="0" bIns="0" rtlCol="0" anchor="t"/>
          <a:lstStyle/>
          <a:p>
            <a:pPr indent="0" marL="0">
              <a:buNone/>
            </a:pPr>
            <a:r>
              <a:rPr lang="en-US" sz="2200" b="1" dirty="0">
                <a:solidFill>
                  <a:srgbClr val="B52046"/>
                </a:solidFill>
                <a:latin typeface="Calibri" pitchFamily="34" charset="0"/>
                <a:ea typeface="Calibri" pitchFamily="34" charset="-122"/>
                <a:cs typeface="Calibri" pitchFamily="34" charset="-120"/>
              </a:rPr>
              <a:t>01 · CHUYỂN TOKEN</a:t>
            </a:r>
            <a:endParaRPr lang="en-US" sz="2200" dirty="0"/>
          </a:p>
        </p:txBody>
      </p:sp>
      <p:sp>
        <p:nvSpPr>
          <p:cNvPr id="8" name="Text 6"/>
          <p:cNvSpPr/>
          <p:nvPr/>
        </p:nvSpPr>
        <p:spPr>
          <a:xfrm>
            <a:off x="841248" y="3611880"/>
            <a:ext cx="3118104" cy="1188720"/>
          </a:xfrm>
          <a:prstGeom prst="rect">
            <a:avLst/>
          </a:prstGeom>
          <a:noFill/>
          <a:ln/>
        </p:spPr>
        <p:txBody>
          <a:bodyPr wrap="square" lIns="0" tIns="0" rIns="0" bIns="0" rtlCol="0" anchor="t"/>
          <a:lstStyle/>
          <a:p>
            <a:pPr indent="0" marL="0">
              <a:buNone/>
            </a:pPr>
            <a:r>
              <a:rPr lang="en-US" sz="1800" dirty="0">
                <a:solidFill>
                  <a:srgbClr val="172033"/>
                </a:solidFill>
                <a:latin typeface="Calibri" pitchFamily="34" charset="0"/>
                <a:ea typeface="Calibri" pitchFamily="34" charset="-122"/>
                <a:cs typeface="Calibri" pitchFamily="34" charset="-120"/>
              </a:rPr>
              <a:t>Xem số dư trước → sau thật từ simulation.</a:t>
            </a:r>
            <a:endParaRPr lang="en-US" sz="1800" dirty="0"/>
          </a:p>
        </p:txBody>
      </p:sp>
      <p:sp>
        <p:nvSpPr>
          <p:cNvPr id="9" name="Shape 7"/>
          <p:cNvSpPr/>
          <p:nvPr/>
        </p:nvSpPr>
        <p:spPr>
          <a:xfrm>
            <a:off x="4343400" y="2743200"/>
            <a:ext cx="3520440" cy="2286000"/>
          </a:xfrm>
          <a:prstGeom prst="roundRect">
            <a:avLst>
              <a:gd name="adj" fmla="val 6400"/>
            </a:avLst>
          </a:prstGeom>
          <a:solidFill>
            <a:srgbClr val="F1F4FA"/>
          </a:solidFill>
          <a:ln w="12700">
            <a:solidFill>
              <a:srgbClr val="F1F4FA">
                <a:alpha val="0"/>
              </a:srgbClr>
            </a:solidFill>
            <a:prstDash val="solid"/>
          </a:ln>
        </p:spPr>
      </p:sp>
      <p:sp>
        <p:nvSpPr>
          <p:cNvPr id="10" name="Text 8"/>
          <p:cNvSpPr/>
          <p:nvPr/>
        </p:nvSpPr>
        <p:spPr>
          <a:xfrm>
            <a:off x="4544568" y="2944368"/>
            <a:ext cx="3118104" cy="548640"/>
          </a:xfrm>
          <a:prstGeom prst="rect">
            <a:avLst/>
          </a:prstGeom>
          <a:noFill/>
          <a:ln/>
        </p:spPr>
        <p:txBody>
          <a:bodyPr wrap="square" lIns="0" tIns="0" rIns="0" bIns="0" rtlCol="0" anchor="t"/>
          <a:lstStyle/>
          <a:p>
            <a:pPr indent="0" marL="0">
              <a:buNone/>
            </a:pPr>
            <a:r>
              <a:rPr lang="en-US" sz="2200" b="1" dirty="0">
                <a:solidFill>
                  <a:srgbClr val="B52046"/>
                </a:solidFill>
                <a:latin typeface="Calibri" pitchFamily="34" charset="0"/>
                <a:ea typeface="Calibri" pitchFamily="34" charset="-122"/>
                <a:cs typeface="Calibri" pitchFamily="34" charset="-120"/>
              </a:rPr>
              <a:t>02 · ĐỔI OWNER</a:t>
            </a:r>
            <a:endParaRPr lang="en-US" sz="2200" dirty="0"/>
          </a:p>
        </p:txBody>
      </p:sp>
      <p:sp>
        <p:nvSpPr>
          <p:cNvPr id="11" name="Text 9"/>
          <p:cNvSpPr/>
          <p:nvPr/>
        </p:nvSpPr>
        <p:spPr>
          <a:xfrm>
            <a:off x="4544568" y="3611880"/>
            <a:ext cx="3118104" cy="1188720"/>
          </a:xfrm>
          <a:prstGeom prst="rect">
            <a:avLst/>
          </a:prstGeom>
          <a:noFill/>
          <a:ln/>
        </p:spPr>
        <p:txBody>
          <a:bodyPr wrap="square" lIns="0" tIns="0" rIns="0" bIns="0" rtlCol="0" anchor="t"/>
          <a:lstStyle/>
          <a:p>
            <a:pPr indent="0" marL="0">
              <a:buNone/>
            </a:pPr>
            <a:r>
              <a:rPr lang="en-US" sz="1800" dirty="0">
                <a:solidFill>
                  <a:srgbClr val="172033"/>
                </a:solidFill>
                <a:latin typeface="Calibri" pitchFamily="34" charset="0"/>
                <a:ea typeface="Calibri" pitchFamily="34" charset="-122"/>
                <a:cs typeface="Calibri" pitchFamily="34" charset="-120"/>
              </a:rPr>
              <a:t>Xem tài khoản nào mất quyền kiểm soát.</a:t>
            </a:r>
            <a:endParaRPr lang="en-US" sz="1800" dirty="0"/>
          </a:p>
        </p:txBody>
      </p:sp>
      <p:sp>
        <p:nvSpPr>
          <p:cNvPr id="12" name="Shape 10"/>
          <p:cNvSpPr/>
          <p:nvPr/>
        </p:nvSpPr>
        <p:spPr>
          <a:xfrm>
            <a:off x="8046720" y="2743200"/>
            <a:ext cx="3520440" cy="2286000"/>
          </a:xfrm>
          <a:prstGeom prst="roundRect">
            <a:avLst>
              <a:gd name="adj" fmla="val 6400"/>
            </a:avLst>
          </a:prstGeom>
          <a:solidFill>
            <a:srgbClr val="F1F4FA"/>
          </a:solidFill>
          <a:ln w="12700">
            <a:solidFill>
              <a:srgbClr val="F1F4FA">
                <a:alpha val="0"/>
              </a:srgbClr>
            </a:solidFill>
            <a:prstDash val="solid"/>
          </a:ln>
        </p:spPr>
      </p:sp>
      <p:sp>
        <p:nvSpPr>
          <p:cNvPr id="13" name="Text 11"/>
          <p:cNvSpPr/>
          <p:nvPr/>
        </p:nvSpPr>
        <p:spPr>
          <a:xfrm>
            <a:off x="8247888" y="2944368"/>
            <a:ext cx="3118104" cy="548640"/>
          </a:xfrm>
          <a:prstGeom prst="rect">
            <a:avLst/>
          </a:prstGeom>
          <a:noFill/>
          <a:ln/>
        </p:spPr>
        <p:txBody>
          <a:bodyPr wrap="square" lIns="0" tIns="0" rIns="0" bIns="0" rtlCol="0" anchor="t"/>
          <a:lstStyle/>
          <a:p>
            <a:pPr indent="0" marL="0">
              <a:buNone/>
            </a:pPr>
            <a:r>
              <a:rPr lang="en-US" sz="2200" b="1" dirty="0">
                <a:solidFill>
                  <a:srgbClr val="3348B8"/>
                </a:solidFill>
                <a:latin typeface="Calibri" pitchFamily="34" charset="0"/>
                <a:ea typeface="Calibri" pitchFamily="34" charset="-122"/>
                <a:cs typeface="Calibri" pitchFamily="34" charset="-120"/>
              </a:rPr>
              <a:t>03 · COVERAGE</a:t>
            </a:r>
            <a:endParaRPr lang="en-US" sz="2200" dirty="0"/>
          </a:p>
        </p:txBody>
      </p:sp>
      <p:sp>
        <p:nvSpPr>
          <p:cNvPr id="14" name="Text 12"/>
          <p:cNvSpPr/>
          <p:nvPr/>
        </p:nvSpPr>
        <p:spPr>
          <a:xfrm>
            <a:off x="8247888" y="3611880"/>
            <a:ext cx="3118104" cy="1188720"/>
          </a:xfrm>
          <a:prstGeom prst="rect">
            <a:avLst/>
          </a:prstGeom>
          <a:noFill/>
          <a:ln/>
        </p:spPr>
        <p:txBody>
          <a:bodyPr wrap="square" lIns="0" tIns="0" rIns="0" bIns="0" rtlCol="0" anchor="t"/>
          <a:lstStyle/>
          <a:p>
            <a:pPr indent="0" marL="0">
              <a:buNone/>
            </a:pPr>
            <a:r>
              <a:rPr lang="en-US" sz="1800" dirty="0">
                <a:solidFill>
                  <a:srgbClr val="172033"/>
                </a:solidFill>
                <a:latin typeface="Calibri" pitchFamily="34" charset="0"/>
                <a:ea typeface="Calibri" pitchFamily="34" charset="-122"/>
                <a:cs typeface="Calibri" pitchFamily="34" charset="-120"/>
              </a:rPr>
              <a:t>Đọc đúng phần chưa hiểu đang hiện trên màn hình.</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10972800" cy="274320"/>
          </a:xfrm>
          <a:prstGeom prst="rect">
            <a:avLst/>
          </a:prstGeom>
          <a:noFill/>
          <a:ln/>
        </p:spPr>
        <p:txBody>
          <a:bodyPr wrap="square" lIns="0" tIns="0" rIns="0" bIns="0" rtlCol="0" anchor="t"/>
          <a:lstStyle/>
          <a:p>
            <a:pPr indent="0" marL="0">
              <a:buNone/>
            </a:pPr>
            <a:r>
              <a:rPr lang="en-US" sz="1200" b="1" dirty="0">
                <a:solidFill>
                  <a:srgbClr val="3348B8"/>
                </a:solidFill>
                <a:latin typeface="Calibri" pitchFamily="34" charset="0"/>
                <a:ea typeface="Calibri" pitchFamily="34" charset="-122"/>
                <a:cs typeface="Calibri" pitchFamily="34" charset="-120"/>
              </a:rPr>
              <a:t>CUSTOS   /   04 / KIẾN TRÚC</a:t>
            </a:r>
            <a:endParaRPr lang="en-US" sz="1200" dirty="0"/>
          </a:p>
        </p:txBody>
      </p:sp>
      <p:sp>
        <p:nvSpPr>
          <p:cNvPr id="3" name="Text 1"/>
          <p:cNvSpPr/>
          <p:nvPr/>
        </p:nvSpPr>
        <p:spPr>
          <a:xfrm>
            <a:off x="594360" y="868680"/>
            <a:ext cx="10972800" cy="1024128"/>
          </a:xfrm>
          <a:prstGeom prst="rect">
            <a:avLst/>
          </a:prstGeom>
          <a:noFill/>
          <a:ln/>
        </p:spPr>
        <p:txBody>
          <a:bodyPr wrap="square" lIns="0" tIns="0" rIns="0" bIns="0" rtlCol="0" anchor="t"/>
          <a:lstStyle/>
          <a:p>
            <a:pPr indent="0" marL="0">
              <a:buNone/>
            </a:pPr>
            <a:r>
              <a:rPr lang="en-US" sz="3400" b="1" dirty="0">
                <a:solidFill>
                  <a:srgbClr val="172033"/>
                </a:solidFill>
                <a:latin typeface="Calibri" pitchFamily="34" charset="0"/>
                <a:ea typeface="Calibri" pitchFamily="34" charset="-122"/>
                <a:cs typeface="Calibri" pitchFamily="34" charset="-120"/>
              </a:rPr>
              <a:t>Ba tầng, ba trách nhiệm.</a:t>
            </a:r>
            <a:endParaRPr lang="en-US" sz="3400" dirty="0"/>
          </a:p>
        </p:txBody>
      </p:sp>
      <p:sp>
        <p:nvSpPr>
          <p:cNvPr id="4" name="Text 2"/>
          <p:cNvSpPr/>
          <p:nvPr/>
        </p:nvSpPr>
        <p:spPr>
          <a:xfrm>
            <a:off x="594360" y="1856232"/>
            <a:ext cx="10972800" cy="594360"/>
          </a:xfrm>
          <a:prstGeom prst="rect">
            <a:avLst/>
          </a:prstGeom>
          <a:noFill/>
          <a:ln/>
        </p:spPr>
        <p:txBody>
          <a:bodyPr wrap="square" lIns="0" tIns="0" rIns="0" bIns="0" rtlCol="0" anchor="t"/>
          <a:lstStyle/>
          <a:p>
            <a:pPr indent="0" marL="0">
              <a:buNone/>
            </a:pPr>
            <a:r>
              <a:rPr lang="en-US" sz="1800" dirty="0">
                <a:solidFill>
                  <a:srgbClr val="536079"/>
                </a:solidFill>
                <a:latin typeface="Calibri" pitchFamily="34" charset="0"/>
                <a:ea typeface="Calibri" pitchFamily="34" charset="-122"/>
                <a:cs typeface="Calibri" pitchFamily="34" charset="-120"/>
              </a:rPr>
              <a:t>L1 đo · L2 quyết định mức · L3 diễn giải tùy chọn</a:t>
            </a:r>
            <a:endParaRPr lang="en-US" sz="1800" dirty="0"/>
          </a:p>
        </p:txBody>
      </p:sp>
      <p:sp>
        <p:nvSpPr>
          <p:cNvPr id="5" name="Text 3"/>
          <p:cNvSpPr/>
          <p:nvPr/>
        </p:nvSpPr>
        <p:spPr>
          <a:xfrm>
            <a:off x="594360" y="6245352"/>
            <a:ext cx="10881360" cy="347472"/>
          </a:xfrm>
          <a:prstGeom prst="rect">
            <a:avLst/>
          </a:prstGeom>
          <a:noFill/>
          <a:ln/>
        </p:spPr>
        <p:txBody>
          <a:bodyPr wrap="square" lIns="0" tIns="0" rIns="0" bIns="0" rtlCol="0" anchor="t"/>
          <a:lstStyle/>
          <a:p>
            <a:pPr indent="0" marL="0">
              <a:buNone/>
            </a:pPr>
            <a:r>
              <a:rPr lang="en-US" sz="1000" dirty="0">
                <a:solidFill>
                  <a:srgbClr val="536079"/>
                </a:solidFill>
                <a:latin typeface="Calibri" pitchFamily="34" charset="0"/>
                <a:ea typeface="Calibri" pitchFamily="34" charset="-122"/>
                <a:cs typeface="Calibri" pitchFamily="34" charset="-120"/>
              </a:rPr>
              <a:t>Nguồn: core/src/l1/fetch.ts · core/src/l2/evaluate.ts · core/src/inspect.ts</a:t>
            </a:r>
            <a:endParaRPr lang="en-US" sz="1000" dirty="0"/>
          </a:p>
        </p:txBody>
      </p:sp>
      <p:sp>
        <p:nvSpPr>
          <p:cNvPr id="6" name="Shape 4"/>
          <p:cNvSpPr/>
          <p:nvPr/>
        </p:nvSpPr>
        <p:spPr>
          <a:xfrm>
            <a:off x="640080" y="2743200"/>
            <a:ext cx="3520440" cy="2286000"/>
          </a:xfrm>
          <a:prstGeom prst="roundRect">
            <a:avLst>
              <a:gd name="adj" fmla="val 6400"/>
            </a:avLst>
          </a:prstGeom>
          <a:solidFill>
            <a:srgbClr val="F1F4FA"/>
          </a:solidFill>
          <a:ln w="12700">
            <a:solidFill>
              <a:srgbClr val="F1F4FA">
                <a:alpha val="0"/>
              </a:srgbClr>
            </a:solidFill>
            <a:prstDash val="solid"/>
          </a:ln>
        </p:spPr>
      </p:sp>
      <p:sp>
        <p:nvSpPr>
          <p:cNvPr id="7" name="Text 5"/>
          <p:cNvSpPr/>
          <p:nvPr/>
        </p:nvSpPr>
        <p:spPr>
          <a:xfrm>
            <a:off x="841248" y="2944368"/>
            <a:ext cx="3118104" cy="548640"/>
          </a:xfrm>
          <a:prstGeom prst="rect">
            <a:avLst/>
          </a:prstGeom>
          <a:noFill/>
          <a:ln/>
        </p:spPr>
        <p:txBody>
          <a:bodyPr wrap="square" lIns="0" tIns="0" rIns="0" bIns="0" rtlCol="0" anchor="t"/>
          <a:lstStyle/>
          <a:p>
            <a:pPr indent="0" marL="0">
              <a:buNone/>
            </a:pPr>
            <a:r>
              <a:rPr lang="en-US" sz="2200" b="1" dirty="0">
                <a:solidFill>
                  <a:srgbClr val="3348B8"/>
                </a:solidFill>
                <a:latin typeface="Calibri" pitchFamily="34" charset="0"/>
                <a:ea typeface="Calibri" pitchFamily="34" charset="-122"/>
                <a:cs typeface="Calibri" pitchFamily="34" charset="-120"/>
              </a:rPr>
              <a:t>L1 · FACTS</a:t>
            </a:r>
            <a:endParaRPr lang="en-US" sz="2200" dirty="0"/>
          </a:p>
        </p:txBody>
      </p:sp>
      <p:sp>
        <p:nvSpPr>
          <p:cNvPr id="8" name="Text 6"/>
          <p:cNvSpPr/>
          <p:nvPr/>
        </p:nvSpPr>
        <p:spPr>
          <a:xfrm>
            <a:off x="841248" y="3611880"/>
            <a:ext cx="3118104" cy="1188720"/>
          </a:xfrm>
          <a:prstGeom prst="rect">
            <a:avLst/>
          </a:prstGeom>
          <a:noFill/>
          <a:ln/>
        </p:spPr>
        <p:txBody>
          <a:bodyPr wrap="square" lIns="0" tIns="0" rIns="0" bIns="0" rtlCol="0" anchor="t"/>
          <a:lstStyle/>
          <a:p>
            <a:pPr indent="0" marL="0">
              <a:buNone/>
            </a:pPr>
            <a:r>
              <a:rPr lang="en-US" sz="1800" dirty="0">
                <a:solidFill>
                  <a:srgbClr val="172033"/>
                </a:solidFill>
                <a:latin typeface="Calibri" pitchFamily="34" charset="0"/>
                <a:ea typeface="Calibri" pitchFamily="34" charset="-122"/>
                <a:cs typeface="Calibri" pitchFamily="34" charset="-120"/>
              </a:rPr>
              <a:t>Account trước/sau</a:t>
            </a:r>
            <a:endParaRPr lang="en-US" sz="1800" dirty="0"/>
          </a:p>
          <a:p>
            <a:pPr indent="0" marL="0">
              <a:buNone/>
            </a:pPr>
            <a:r>
              <a:rPr lang="en-US" sz="1800" dirty="0">
                <a:solidFill>
                  <a:srgbClr val="172033"/>
                </a:solidFill>
                <a:latin typeface="Calibri" pitchFamily="34" charset="0"/>
                <a:ea typeface="Calibri" pitchFamily="34" charset="-122"/>
                <a:cs typeface="Calibri" pitchFamily="34" charset="-120"/>
              </a:rPr>
              <a:t>Simulation + CPI + ALT</a:t>
            </a:r>
            <a:endParaRPr lang="en-US" sz="1800" dirty="0"/>
          </a:p>
          <a:p>
            <a:pPr indent="0" marL="0">
              <a:buNone/>
            </a:pPr>
            <a:r>
              <a:rPr lang="en-US" sz="1800" dirty="0">
                <a:solidFill>
                  <a:srgbClr val="172033"/>
                </a:solidFill>
                <a:latin typeface="Calibri" pitchFamily="34" charset="0"/>
                <a:ea typeface="Calibri" pitchFamily="34" charset="-122"/>
                <a:cs typeface="Calibri" pitchFamily="34" charset="-120"/>
              </a:rPr>
              <a:t>Phần dữ liệu còn thiếu</a:t>
            </a:r>
            <a:endParaRPr lang="en-US" sz="1800" dirty="0"/>
          </a:p>
        </p:txBody>
      </p:sp>
      <p:sp>
        <p:nvSpPr>
          <p:cNvPr id="9" name="Shape 7"/>
          <p:cNvSpPr/>
          <p:nvPr/>
        </p:nvSpPr>
        <p:spPr>
          <a:xfrm>
            <a:off x="4343400" y="2743200"/>
            <a:ext cx="3520440" cy="2286000"/>
          </a:xfrm>
          <a:prstGeom prst="roundRect">
            <a:avLst>
              <a:gd name="adj" fmla="val 6400"/>
            </a:avLst>
          </a:prstGeom>
          <a:solidFill>
            <a:srgbClr val="F1F4FA"/>
          </a:solidFill>
          <a:ln w="12700">
            <a:solidFill>
              <a:srgbClr val="F1F4FA">
                <a:alpha val="0"/>
              </a:srgbClr>
            </a:solidFill>
            <a:prstDash val="solid"/>
          </a:ln>
        </p:spPr>
      </p:sp>
      <p:sp>
        <p:nvSpPr>
          <p:cNvPr id="10" name="Text 8"/>
          <p:cNvSpPr/>
          <p:nvPr/>
        </p:nvSpPr>
        <p:spPr>
          <a:xfrm>
            <a:off x="4544568" y="2944368"/>
            <a:ext cx="3118104" cy="548640"/>
          </a:xfrm>
          <a:prstGeom prst="rect">
            <a:avLst/>
          </a:prstGeom>
          <a:noFill/>
          <a:ln/>
        </p:spPr>
        <p:txBody>
          <a:bodyPr wrap="square" lIns="0" tIns="0" rIns="0" bIns="0" rtlCol="0" anchor="t"/>
          <a:lstStyle/>
          <a:p>
            <a:pPr indent="0" marL="0">
              <a:buNone/>
            </a:pPr>
            <a:r>
              <a:rPr lang="en-US" sz="2200" b="1" dirty="0">
                <a:solidFill>
                  <a:srgbClr val="3348B8"/>
                </a:solidFill>
                <a:latin typeface="Calibri" pitchFamily="34" charset="0"/>
                <a:ea typeface="Calibri" pitchFamily="34" charset="-122"/>
                <a:cs typeface="Calibri" pitchFamily="34" charset="-120"/>
              </a:rPr>
              <a:t>L2 · 14 LUẬT</a:t>
            </a:r>
            <a:endParaRPr lang="en-US" sz="2200" dirty="0"/>
          </a:p>
        </p:txBody>
      </p:sp>
      <p:sp>
        <p:nvSpPr>
          <p:cNvPr id="11" name="Text 9"/>
          <p:cNvSpPr/>
          <p:nvPr/>
        </p:nvSpPr>
        <p:spPr>
          <a:xfrm>
            <a:off x="4544568" y="3611880"/>
            <a:ext cx="3118104" cy="1188720"/>
          </a:xfrm>
          <a:prstGeom prst="rect">
            <a:avLst/>
          </a:prstGeom>
          <a:noFill/>
          <a:ln/>
        </p:spPr>
        <p:txBody>
          <a:bodyPr wrap="square" lIns="0" tIns="0" rIns="0" bIns="0" rtlCol="0" anchor="t"/>
          <a:lstStyle/>
          <a:p>
            <a:pPr indent="0" marL="0">
              <a:buNone/>
            </a:pPr>
            <a:r>
              <a:rPr lang="en-US" sz="1800" dirty="0">
                <a:solidFill>
                  <a:srgbClr val="172033"/>
                </a:solidFill>
                <a:latin typeface="Calibri" pitchFamily="34" charset="0"/>
                <a:ea typeface="Calibri" pitchFamily="34" charset="-122"/>
                <a:cs typeface="Calibri" pitchFamily="34" charset="-120"/>
              </a:rPr>
              <a:t>Verdict + reasonCodes</a:t>
            </a:r>
            <a:endParaRPr lang="en-US" sz="1800" dirty="0"/>
          </a:p>
          <a:p>
            <a:pPr indent="0" marL="0">
              <a:buNone/>
            </a:pPr>
            <a:r>
              <a:rPr lang="en-US" sz="1800" dirty="0">
                <a:solidFill>
                  <a:srgbClr val="172033"/>
                </a:solidFill>
                <a:latin typeface="Calibri" pitchFamily="34" charset="0"/>
                <a:ea typeface="Calibri" pitchFamily="34" charset="-122"/>
                <a:cs typeface="Calibri" pitchFamily="34" charset="-120"/>
              </a:rPr>
              <a:t>Hậu quả có căn cứ</a:t>
            </a:r>
            <a:endParaRPr lang="en-US" sz="1800" dirty="0"/>
          </a:p>
          <a:p>
            <a:pPr indent="0" marL="0">
              <a:buNone/>
            </a:pPr>
            <a:r>
              <a:rPr lang="en-US" sz="1800" dirty="0">
                <a:solidFill>
                  <a:srgbClr val="172033"/>
                </a:solidFill>
                <a:latin typeface="Calibri" pitchFamily="34" charset="0"/>
                <a:ea typeface="Calibri" pitchFamily="34" charset="-122"/>
                <a:cs typeface="Calibri" pitchFamily="34" charset="-120"/>
              </a:rPr>
              <a:t>Mức thận trọng khi cần</a:t>
            </a:r>
            <a:endParaRPr lang="en-US" sz="1800" dirty="0"/>
          </a:p>
        </p:txBody>
      </p:sp>
      <p:sp>
        <p:nvSpPr>
          <p:cNvPr id="12" name="Shape 10"/>
          <p:cNvSpPr/>
          <p:nvPr/>
        </p:nvSpPr>
        <p:spPr>
          <a:xfrm>
            <a:off x="8046720" y="2743200"/>
            <a:ext cx="3520440" cy="2286000"/>
          </a:xfrm>
          <a:prstGeom prst="roundRect">
            <a:avLst>
              <a:gd name="adj" fmla="val 6400"/>
            </a:avLst>
          </a:prstGeom>
          <a:solidFill>
            <a:srgbClr val="F1F4FA"/>
          </a:solidFill>
          <a:ln w="12700">
            <a:solidFill>
              <a:srgbClr val="F1F4FA">
                <a:alpha val="0"/>
              </a:srgbClr>
            </a:solidFill>
            <a:prstDash val="solid"/>
          </a:ln>
        </p:spPr>
      </p:sp>
      <p:sp>
        <p:nvSpPr>
          <p:cNvPr id="13" name="Text 11"/>
          <p:cNvSpPr/>
          <p:nvPr/>
        </p:nvSpPr>
        <p:spPr>
          <a:xfrm>
            <a:off x="8247888" y="2944368"/>
            <a:ext cx="3118104" cy="548640"/>
          </a:xfrm>
          <a:prstGeom prst="rect">
            <a:avLst/>
          </a:prstGeom>
          <a:noFill/>
          <a:ln/>
        </p:spPr>
        <p:txBody>
          <a:bodyPr wrap="square" lIns="0" tIns="0" rIns="0" bIns="0" rtlCol="0" anchor="t"/>
          <a:lstStyle/>
          <a:p>
            <a:pPr indent="0" marL="0">
              <a:buNone/>
            </a:pPr>
            <a:r>
              <a:rPr lang="en-US" sz="2200" b="1" dirty="0">
                <a:solidFill>
                  <a:srgbClr val="3348B8"/>
                </a:solidFill>
                <a:latin typeface="Calibri" pitchFamily="34" charset="0"/>
                <a:ea typeface="Calibri" pitchFamily="34" charset="-122"/>
                <a:cs typeface="Calibri" pitchFamily="34" charset="-120"/>
              </a:rPr>
              <a:t>L3 · GIẢI THÍCH</a:t>
            </a:r>
            <a:endParaRPr lang="en-US" sz="2200" dirty="0"/>
          </a:p>
        </p:txBody>
      </p:sp>
      <p:sp>
        <p:nvSpPr>
          <p:cNvPr id="14" name="Text 12"/>
          <p:cNvSpPr/>
          <p:nvPr/>
        </p:nvSpPr>
        <p:spPr>
          <a:xfrm>
            <a:off x="8247888" y="3611880"/>
            <a:ext cx="3118104" cy="1188720"/>
          </a:xfrm>
          <a:prstGeom prst="rect">
            <a:avLst/>
          </a:prstGeom>
          <a:noFill/>
          <a:ln/>
        </p:spPr>
        <p:txBody>
          <a:bodyPr wrap="square" lIns="0" tIns="0" rIns="0" bIns="0" rtlCol="0" anchor="t"/>
          <a:lstStyle/>
          <a:p>
            <a:pPr indent="0" marL="0">
              <a:buNone/>
            </a:pPr>
            <a:r>
              <a:rPr lang="en-US" sz="1800" dirty="0">
                <a:solidFill>
                  <a:srgbClr val="172033"/>
                </a:solidFill>
                <a:latin typeface="Calibri" pitchFamily="34" charset="0"/>
                <a:ea typeface="Calibri" pitchFamily="34" charset="-122"/>
                <a:cs typeface="Calibri" pitchFamily="34" charset="-120"/>
              </a:rPr>
              <a:t>Template hoặc model</a:t>
            </a:r>
            <a:endParaRPr lang="en-US" sz="1800" dirty="0"/>
          </a:p>
          <a:p>
            <a:pPr indent="0" marL="0">
              <a:buNone/>
            </a:pPr>
            <a:r>
              <a:rPr lang="en-US" sz="1800" dirty="0">
                <a:solidFill>
                  <a:srgbClr val="172033"/>
                </a:solidFill>
                <a:latin typeface="Calibri" pitchFamily="34" charset="0"/>
                <a:ea typeface="Calibri" pitchFamily="34" charset="-122"/>
                <a:cs typeface="Calibri" pitchFamily="34" charset="-120"/>
              </a:rPr>
              <a:t>Không hạ verdict</a:t>
            </a:r>
            <a:endParaRPr lang="en-US" sz="1800" dirty="0"/>
          </a:p>
          <a:p>
            <a:pPr indent="0" marL="0">
              <a:buNone/>
            </a:pPr>
            <a:r>
              <a:rPr lang="en-US" sz="1800" dirty="0">
                <a:solidFill>
                  <a:srgbClr val="172033"/>
                </a:solidFill>
                <a:latin typeface="Calibri" pitchFamily="34" charset="0"/>
                <a:ea typeface="Calibri" pitchFamily="34" charset="-122"/>
                <a:cs typeface="Calibri" pitchFamily="34" charset="-120"/>
              </a:rPr>
              <a:t>Có đường lui khi lỗi</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10972800" cy="274320"/>
          </a:xfrm>
          <a:prstGeom prst="rect">
            <a:avLst/>
          </a:prstGeom>
          <a:noFill/>
          <a:ln/>
        </p:spPr>
        <p:txBody>
          <a:bodyPr wrap="square" lIns="0" tIns="0" rIns="0" bIns="0" rtlCol="0" anchor="t"/>
          <a:lstStyle/>
          <a:p>
            <a:pPr indent="0" marL="0">
              <a:buNone/>
            </a:pPr>
            <a:r>
              <a:rPr lang="en-US" sz="1200" b="1" dirty="0">
                <a:solidFill>
                  <a:srgbClr val="3348B8"/>
                </a:solidFill>
                <a:latin typeface="Calibri" pitchFamily="34" charset="0"/>
                <a:ea typeface="Calibri" pitchFamily="34" charset="-122"/>
                <a:cs typeface="Calibri" pitchFamily="34" charset="-120"/>
              </a:rPr>
              <a:t>CUSTOS   /   05 / RANH GIỚI</a:t>
            </a:r>
            <a:endParaRPr lang="en-US" sz="1200" dirty="0"/>
          </a:p>
        </p:txBody>
      </p:sp>
      <p:sp>
        <p:nvSpPr>
          <p:cNvPr id="3" name="Text 1"/>
          <p:cNvSpPr/>
          <p:nvPr/>
        </p:nvSpPr>
        <p:spPr>
          <a:xfrm>
            <a:off x="594360" y="868680"/>
            <a:ext cx="10972800" cy="1024128"/>
          </a:xfrm>
          <a:prstGeom prst="rect">
            <a:avLst/>
          </a:prstGeom>
          <a:noFill/>
          <a:ln/>
        </p:spPr>
        <p:txBody>
          <a:bodyPr wrap="square" lIns="0" tIns="0" rIns="0" bIns="0" rtlCol="0" anchor="t"/>
          <a:lstStyle/>
          <a:p>
            <a:pPr indent="0" marL="0">
              <a:buNone/>
            </a:pPr>
            <a:r>
              <a:rPr lang="en-US" sz="3400" b="1" dirty="0">
                <a:solidFill>
                  <a:srgbClr val="172033"/>
                </a:solidFill>
                <a:latin typeface="Calibri" pitchFamily="34" charset="0"/>
                <a:ea typeface="Calibri" pitchFamily="34" charset="-122"/>
                <a:cs typeface="Calibri" pitchFamily="34" charset="-120"/>
              </a:rPr>
              <a:t>SDK trả thông tin. Ví thực thi chính sách.</a:t>
            </a:r>
            <a:endParaRPr lang="en-US" sz="3400" dirty="0"/>
          </a:p>
        </p:txBody>
      </p:sp>
      <p:sp>
        <p:nvSpPr>
          <p:cNvPr id="4" name="Text 2"/>
          <p:cNvSpPr/>
          <p:nvPr/>
        </p:nvSpPr>
        <p:spPr>
          <a:xfrm>
            <a:off x="594360" y="1856232"/>
            <a:ext cx="10972800" cy="594360"/>
          </a:xfrm>
          <a:prstGeom prst="rect">
            <a:avLst/>
          </a:prstGeom>
          <a:noFill/>
          <a:ln/>
        </p:spPr>
        <p:txBody>
          <a:bodyPr wrap="square" lIns="0" tIns="0" rIns="0" bIns="0" rtlCol="0" anchor="t"/>
          <a:lstStyle/>
          <a:p>
            <a:pPr indent="0" marL="0">
              <a:buNone/>
            </a:pPr>
            <a:r>
              <a:rPr lang="en-US" sz="1800" dirty="0">
                <a:solidFill>
                  <a:srgbClr val="536079"/>
                </a:solidFill>
                <a:latin typeface="Calibri" pitchFamily="34" charset="0"/>
                <a:ea typeface="Calibri" pitchFamily="34" charset="-122"/>
                <a:cs typeface="Calibri" pitchFamily="34" charset="-120"/>
              </a:rPr>
              <a:t>Điểm chặn nằm trước signer của consumer.</a:t>
            </a:r>
            <a:endParaRPr lang="en-US" sz="1800" dirty="0"/>
          </a:p>
        </p:txBody>
      </p:sp>
      <p:sp>
        <p:nvSpPr>
          <p:cNvPr id="5" name="Text 3"/>
          <p:cNvSpPr/>
          <p:nvPr/>
        </p:nvSpPr>
        <p:spPr>
          <a:xfrm>
            <a:off x="594360" y="6245352"/>
            <a:ext cx="10881360" cy="347472"/>
          </a:xfrm>
          <a:prstGeom prst="rect">
            <a:avLst/>
          </a:prstGeom>
          <a:noFill/>
          <a:ln/>
        </p:spPr>
        <p:txBody>
          <a:bodyPr wrap="square" lIns="0" tIns="0" rIns="0" bIns="0" rtlCol="0" anchor="t"/>
          <a:lstStyle/>
          <a:p>
            <a:pPr indent="0" marL="0">
              <a:buNone/>
            </a:pPr>
            <a:r>
              <a:rPr lang="en-US" sz="1000" dirty="0">
                <a:solidFill>
                  <a:srgbClr val="536079"/>
                </a:solidFill>
                <a:latin typeface="Calibri" pitchFamily="34" charset="0"/>
                <a:ea typeface="Calibri" pitchFamily="34" charset="-122"/>
                <a:cs typeface="Calibri" pitchFamily="34" charset="-120"/>
              </a:rPr>
              <a:t>Nguồn: vi-du-tich-hop/src/ky.js · docs/bao-mat/THREAT-MODEL.md</a:t>
            </a:r>
            <a:endParaRPr lang="en-US" sz="1000" dirty="0"/>
          </a:p>
        </p:txBody>
      </p:sp>
      <p:sp>
        <p:nvSpPr>
          <p:cNvPr id="6" name="Shape 4"/>
          <p:cNvSpPr/>
          <p:nvPr/>
        </p:nvSpPr>
        <p:spPr>
          <a:xfrm>
            <a:off x="640080" y="2926080"/>
            <a:ext cx="2606040" cy="1188720"/>
          </a:xfrm>
          <a:prstGeom prst="roundRect">
            <a:avLst>
              <a:gd name="adj" fmla="val 12308"/>
            </a:avLst>
          </a:prstGeom>
          <a:solidFill>
            <a:srgbClr val="F1F4FA"/>
          </a:solidFill>
          <a:ln w="12700">
            <a:solidFill>
              <a:srgbClr val="F1F4FA">
                <a:alpha val="0"/>
              </a:srgbClr>
            </a:solidFill>
            <a:prstDash val="solid"/>
          </a:ln>
        </p:spPr>
      </p:sp>
      <p:sp>
        <p:nvSpPr>
          <p:cNvPr id="7" name="Text 5"/>
          <p:cNvSpPr/>
          <p:nvPr/>
        </p:nvSpPr>
        <p:spPr>
          <a:xfrm>
            <a:off x="822960" y="3273552"/>
            <a:ext cx="2240280" cy="457200"/>
          </a:xfrm>
          <a:prstGeom prst="rect">
            <a:avLst/>
          </a:prstGeom>
          <a:noFill/>
          <a:ln/>
        </p:spPr>
        <p:txBody>
          <a:bodyPr wrap="square" lIns="0" tIns="0" rIns="0" bIns="0" rtlCol="0" anchor="t"/>
          <a:lstStyle/>
          <a:p>
            <a:pPr indent="0" marL="0">
              <a:buNone/>
            </a:pPr>
            <a:r>
              <a:rPr lang="en-US" sz="2100" b="1" dirty="0">
                <a:solidFill>
                  <a:srgbClr val="3348B8"/>
                </a:solidFill>
                <a:latin typeface="Calibri" pitchFamily="34" charset="0"/>
                <a:ea typeface="Calibri" pitchFamily="34" charset="-122"/>
                <a:cs typeface="Calibri" pitchFamily="34" charset="-120"/>
              </a:rPr>
              <a:t>inspect()</a:t>
            </a:r>
            <a:endParaRPr lang="en-US" sz="2100" dirty="0"/>
          </a:p>
        </p:txBody>
      </p:sp>
      <p:sp>
        <p:nvSpPr>
          <p:cNvPr id="8" name="Shape 6"/>
          <p:cNvSpPr/>
          <p:nvPr/>
        </p:nvSpPr>
        <p:spPr>
          <a:xfrm>
            <a:off x="3447288" y="2926080"/>
            <a:ext cx="2606040" cy="1188720"/>
          </a:xfrm>
          <a:prstGeom prst="roundRect">
            <a:avLst>
              <a:gd name="adj" fmla="val 12308"/>
            </a:avLst>
          </a:prstGeom>
          <a:solidFill>
            <a:srgbClr val="F1F4FA"/>
          </a:solidFill>
          <a:ln w="12700">
            <a:solidFill>
              <a:srgbClr val="F1F4FA">
                <a:alpha val="0"/>
              </a:srgbClr>
            </a:solidFill>
            <a:prstDash val="solid"/>
          </a:ln>
        </p:spPr>
      </p:sp>
      <p:sp>
        <p:nvSpPr>
          <p:cNvPr id="9" name="Text 7"/>
          <p:cNvSpPr/>
          <p:nvPr/>
        </p:nvSpPr>
        <p:spPr>
          <a:xfrm>
            <a:off x="3630168" y="3273552"/>
            <a:ext cx="2240280" cy="457200"/>
          </a:xfrm>
          <a:prstGeom prst="rect">
            <a:avLst/>
          </a:prstGeom>
          <a:noFill/>
          <a:ln/>
        </p:spPr>
        <p:txBody>
          <a:bodyPr wrap="square" lIns="0" tIns="0" rIns="0" bIns="0" rtlCol="0" anchor="t"/>
          <a:lstStyle/>
          <a:p>
            <a:pPr indent="0" marL="0">
              <a:buNone/>
            </a:pPr>
            <a:r>
              <a:rPr lang="en-US" sz="2100" b="1" dirty="0">
                <a:solidFill>
                  <a:srgbClr val="3348B8"/>
                </a:solidFill>
                <a:latin typeface="Calibri" pitchFamily="34" charset="0"/>
                <a:ea typeface="Calibri" pitchFamily="34" charset="-122"/>
                <a:cs typeface="Calibri" pitchFamily="34" charset="-120"/>
              </a:rPr>
              <a:t>policy + review</a:t>
            </a:r>
            <a:endParaRPr lang="en-US" sz="2100" dirty="0"/>
          </a:p>
        </p:txBody>
      </p:sp>
      <p:sp>
        <p:nvSpPr>
          <p:cNvPr id="10" name="Shape 8"/>
          <p:cNvSpPr/>
          <p:nvPr/>
        </p:nvSpPr>
        <p:spPr>
          <a:xfrm>
            <a:off x="6254496" y="2926080"/>
            <a:ext cx="2606040" cy="1188720"/>
          </a:xfrm>
          <a:prstGeom prst="roundRect">
            <a:avLst>
              <a:gd name="adj" fmla="val 12308"/>
            </a:avLst>
          </a:prstGeom>
          <a:solidFill>
            <a:srgbClr val="F1F4FA"/>
          </a:solidFill>
          <a:ln w="12700">
            <a:solidFill>
              <a:srgbClr val="F1F4FA">
                <a:alpha val="0"/>
              </a:srgbClr>
            </a:solidFill>
            <a:prstDash val="solid"/>
          </a:ln>
        </p:spPr>
      </p:sp>
      <p:sp>
        <p:nvSpPr>
          <p:cNvPr id="11" name="Text 9"/>
          <p:cNvSpPr/>
          <p:nvPr/>
        </p:nvSpPr>
        <p:spPr>
          <a:xfrm>
            <a:off x="6437376" y="3273552"/>
            <a:ext cx="2240280" cy="457200"/>
          </a:xfrm>
          <a:prstGeom prst="rect">
            <a:avLst/>
          </a:prstGeom>
          <a:noFill/>
          <a:ln/>
        </p:spPr>
        <p:txBody>
          <a:bodyPr wrap="square" lIns="0" tIns="0" rIns="0" bIns="0" rtlCol="0" anchor="t"/>
          <a:lstStyle/>
          <a:p>
            <a:pPr indent="0" marL="0">
              <a:buNone/>
            </a:pPr>
            <a:r>
              <a:rPr lang="en-US" sz="2100" b="1" dirty="0">
                <a:solidFill>
                  <a:srgbClr val="3348B8"/>
                </a:solidFill>
                <a:latin typeface="Calibri" pitchFamily="34" charset="0"/>
                <a:ea typeface="Calibri" pitchFamily="34" charset="-122"/>
                <a:cs typeface="Calibri" pitchFamily="34" charset="-120"/>
              </a:rPr>
              <a:t>đúng message</a:t>
            </a:r>
            <a:endParaRPr lang="en-US" sz="2100" dirty="0"/>
          </a:p>
        </p:txBody>
      </p:sp>
      <p:sp>
        <p:nvSpPr>
          <p:cNvPr id="12" name="Shape 10"/>
          <p:cNvSpPr/>
          <p:nvPr/>
        </p:nvSpPr>
        <p:spPr>
          <a:xfrm>
            <a:off x="9061704" y="2926080"/>
            <a:ext cx="2606040" cy="1188720"/>
          </a:xfrm>
          <a:prstGeom prst="roundRect">
            <a:avLst>
              <a:gd name="adj" fmla="val 12308"/>
            </a:avLst>
          </a:prstGeom>
          <a:solidFill>
            <a:srgbClr val="F1F4FA"/>
          </a:solidFill>
          <a:ln w="12700">
            <a:solidFill>
              <a:srgbClr val="F1F4FA">
                <a:alpha val="0"/>
              </a:srgbClr>
            </a:solidFill>
            <a:prstDash val="solid"/>
          </a:ln>
        </p:spPr>
      </p:sp>
      <p:sp>
        <p:nvSpPr>
          <p:cNvPr id="13" name="Text 11"/>
          <p:cNvSpPr/>
          <p:nvPr/>
        </p:nvSpPr>
        <p:spPr>
          <a:xfrm>
            <a:off x="9244584" y="3273552"/>
            <a:ext cx="2240280" cy="457200"/>
          </a:xfrm>
          <a:prstGeom prst="rect">
            <a:avLst/>
          </a:prstGeom>
          <a:noFill/>
          <a:ln/>
        </p:spPr>
        <p:txBody>
          <a:bodyPr wrap="square" lIns="0" tIns="0" rIns="0" bIns="0" rtlCol="0" anchor="t"/>
          <a:lstStyle/>
          <a:p>
            <a:pPr indent="0" marL="0">
              <a:buNone/>
            </a:pPr>
            <a:r>
              <a:rPr lang="en-US" sz="2100" b="1" dirty="0">
                <a:solidFill>
                  <a:srgbClr val="3348B8"/>
                </a:solidFill>
                <a:latin typeface="Calibri" pitchFamily="34" charset="0"/>
                <a:ea typeface="Calibri" pitchFamily="34" charset="-122"/>
                <a:cs typeface="Calibri" pitchFamily="34" charset="-120"/>
              </a:rPr>
              <a:t>signer</a:t>
            </a:r>
            <a:endParaRPr lang="en-US" sz="2100" dirty="0"/>
          </a:p>
        </p:txBody>
      </p:sp>
      <p:sp>
        <p:nvSpPr>
          <p:cNvPr id="14" name="Text 12"/>
          <p:cNvSpPr/>
          <p:nvPr/>
        </p:nvSpPr>
        <p:spPr>
          <a:xfrm>
            <a:off x="685800" y="4709160"/>
            <a:ext cx="10835640" cy="914400"/>
          </a:xfrm>
          <a:prstGeom prst="rect">
            <a:avLst/>
          </a:prstGeom>
          <a:noFill/>
          <a:ln/>
        </p:spPr>
        <p:txBody>
          <a:bodyPr wrap="square" lIns="0" tIns="0" rIns="0" bIns="0" rtlCol="0" anchor="t"/>
          <a:lstStyle/>
          <a:p>
            <a:pPr indent="0" marL="0">
              <a:buNone/>
            </a:pPr>
            <a:r>
              <a:rPr lang="en-US" sz="2200" dirty="0">
                <a:solidFill>
                  <a:srgbClr val="172033"/>
                </a:solidFill>
                <a:latin typeface="Calibri" pitchFamily="34" charset="0"/>
                <a:ea typeface="Calibri" pitchFamily="34" charset="-122"/>
                <a:cs typeface="Calibri" pitchFamily="34" charset="-120"/>
              </a:rPr>
              <a:t>DApp tự khai đúng không được làm giảm nghi ngờ.</a:t>
            </a:r>
            <a:endParaRPr lang="en-US" sz="2200" dirty="0"/>
          </a:p>
          <a:p>
            <a:pPr indent="0" marL="0">
              <a:buNone/>
            </a:pPr>
            <a:r>
              <a:rPr lang="en-US" sz="2200" dirty="0">
                <a:solidFill>
                  <a:srgbClr val="172033"/>
                </a:solidFill>
                <a:latin typeface="Calibri" pitchFamily="34" charset="0"/>
                <a:ea typeface="Calibri" pitchFamily="34" charset="-122"/>
                <a:cs typeface="Calibri" pitchFamily="34" charset="-120"/>
              </a:rPr>
              <a:t>Consumer bỏ qua policy nằm ngoài khả năng cưỡng chế của SDK.</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10972800" cy="274320"/>
          </a:xfrm>
          <a:prstGeom prst="rect">
            <a:avLst/>
          </a:prstGeom>
          <a:noFill/>
          <a:ln/>
        </p:spPr>
        <p:txBody>
          <a:bodyPr wrap="square" lIns="0" tIns="0" rIns="0" bIns="0" rtlCol="0" anchor="t"/>
          <a:lstStyle/>
          <a:p>
            <a:pPr indent="0" marL="0">
              <a:buNone/>
            </a:pPr>
            <a:r>
              <a:rPr lang="en-US" sz="1200" b="1" dirty="0">
                <a:solidFill>
                  <a:srgbClr val="3348B8"/>
                </a:solidFill>
                <a:latin typeface="Calibri" pitchFamily="34" charset="0"/>
                <a:ea typeface="Calibri" pitchFamily="34" charset="-122"/>
                <a:cs typeface="Calibri" pitchFamily="34" charset="-120"/>
              </a:rPr>
              <a:t>CUSTOS   /   06 / SO SÁNH</a:t>
            </a:r>
            <a:endParaRPr lang="en-US" sz="1200" dirty="0"/>
          </a:p>
        </p:txBody>
      </p:sp>
      <p:sp>
        <p:nvSpPr>
          <p:cNvPr id="3" name="Text 1"/>
          <p:cNvSpPr/>
          <p:nvPr/>
        </p:nvSpPr>
        <p:spPr>
          <a:xfrm>
            <a:off x="594360" y="868680"/>
            <a:ext cx="10972800" cy="1024128"/>
          </a:xfrm>
          <a:prstGeom prst="rect">
            <a:avLst/>
          </a:prstGeom>
          <a:noFill/>
          <a:ln/>
        </p:spPr>
        <p:txBody>
          <a:bodyPr wrap="square" lIns="0" tIns="0" rIns="0" bIns="0" rtlCol="0" anchor="t"/>
          <a:lstStyle/>
          <a:p>
            <a:pPr indent="0" marL="0">
              <a:buNone/>
            </a:pPr>
            <a:r>
              <a:rPr lang="en-US" sz="3400" b="1" dirty="0">
                <a:solidFill>
                  <a:srgbClr val="172033"/>
                </a:solidFill>
                <a:latin typeface="Calibri" pitchFamily="34" charset="0"/>
                <a:ea typeface="Calibri" pitchFamily="34" charset="-122"/>
                <a:cs typeface="Calibri" pitchFamily="34" charset="-120"/>
              </a:rPr>
              <a:t>Custos thêm được gì vào cùng một đầu vào?</a:t>
            </a:r>
            <a:endParaRPr lang="en-US" sz="3400" dirty="0"/>
          </a:p>
        </p:txBody>
      </p:sp>
      <p:sp>
        <p:nvSpPr>
          <p:cNvPr id="4" name="Text 2"/>
          <p:cNvSpPr/>
          <p:nvPr/>
        </p:nvSpPr>
        <p:spPr>
          <a:xfrm>
            <a:off x="594360" y="1856232"/>
            <a:ext cx="10972800" cy="594360"/>
          </a:xfrm>
          <a:prstGeom prst="rect">
            <a:avLst/>
          </a:prstGeom>
          <a:noFill/>
          <a:ln/>
        </p:spPr>
        <p:txBody>
          <a:bodyPr wrap="square" lIns="0" tIns="0" rIns="0" bIns="0" rtlCol="0" anchor="t"/>
          <a:lstStyle/>
          <a:p>
            <a:pPr indent="0" marL="0">
              <a:buNone/>
            </a:pPr>
            <a:r>
              <a:rPr lang="en-US" sz="1800" dirty="0">
                <a:solidFill>
                  <a:srgbClr val="536079"/>
                </a:solidFill>
                <a:latin typeface="Calibri" pitchFamily="34" charset="0"/>
                <a:ea typeface="Calibri" pitchFamily="34" charset="-122"/>
                <a:cs typeface="Calibri" pitchFamily="34" charset="-120"/>
              </a:rPr>
              <a:t>So sánh thành phần B06; không phải benchmark đối thủ thương mại.</a:t>
            </a:r>
            <a:endParaRPr lang="en-US" sz="1800" dirty="0"/>
          </a:p>
        </p:txBody>
      </p:sp>
      <p:sp>
        <p:nvSpPr>
          <p:cNvPr id="5" name="Text 3"/>
          <p:cNvSpPr/>
          <p:nvPr/>
        </p:nvSpPr>
        <p:spPr>
          <a:xfrm>
            <a:off x="594360" y="6245352"/>
            <a:ext cx="10881360" cy="347472"/>
          </a:xfrm>
          <a:prstGeom prst="rect">
            <a:avLst/>
          </a:prstGeom>
          <a:noFill/>
          <a:ln/>
        </p:spPr>
        <p:txBody>
          <a:bodyPr wrap="square" lIns="0" tIns="0" rIns="0" bIns="0" rtlCol="0" anchor="t"/>
          <a:lstStyle/>
          <a:p>
            <a:pPr indent="0" marL="0">
              <a:buNone/>
            </a:pPr>
            <a:r>
              <a:rPr lang="en-US" sz="1000" dirty="0">
                <a:solidFill>
                  <a:srgbClr val="536079"/>
                </a:solidFill>
                <a:latin typeface="Calibri" pitchFamily="34" charset="0"/>
                <a:ea typeface="Calibri" pitchFamily="34" charset="-122"/>
                <a:cs typeface="Calibri" pitchFamily="34" charset="-120"/>
              </a:rPr>
              <a:t>Nguồn: npm run so-baseline · Facts và kỳ vọng được mô tả trong scripts/ky-thuat/so-baseline-b06.ts</a:t>
            </a:r>
            <a:endParaRPr lang="en-US" sz="1000" dirty="0"/>
          </a:p>
        </p:txBody>
      </p:sp>
      <p:sp>
        <p:nvSpPr>
          <p:cNvPr id="6" name="Shape 4"/>
          <p:cNvSpPr/>
          <p:nvPr/>
        </p:nvSpPr>
        <p:spPr>
          <a:xfrm>
            <a:off x="640080" y="2743200"/>
            <a:ext cx="3520440" cy="2286000"/>
          </a:xfrm>
          <a:prstGeom prst="roundRect">
            <a:avLst>
              <a:gd name="adj" fmla="val 6400"/>
            </a:avLst>
          </a:prstGeom>
          <a:solidFill>
            <a:srgbClr val="F1F4FA"/>
          </a:solidFill>
          <a:ln w="12700">
            <a:solidFill>
              <a:srgbClr val="F1F4FA">
                <a:alpha val="0"/>
              </a:srgbClr>
            </a:solidFill>
            <a:prstDash val="solid"/>
          </a:ln>
        </p:spPr>
      </p:sp>
      <p:sp>
        <p:nvSpPr>
          <p:cNvPr id="7" name="Text 5"/>
          <p:cNvSpPr/>
          <p:nvPr/>
        </p:nvSpPr>
        <p:spPr>
          <a:xfrm>
            <a:off x="841248" y="2944368"/>
            <a:ext cx="3118104" cy="548640"/>
          </a:xfrm>
          <a:prstGeom prst="rect">
            <a:avLst/>
          </a:prstGeom>
          <a:noFill/>
          <a:ln/>
        </p:spPr>
        <p:txBody>
          <a:bodyPr wrap="square" lIns="0" tIns="0" rIns="0" bIns="0" rtlCol="0" anchor="t"/>
          <a:lstStyle/>
          <a:p>
            <a:pPr indent="0" marL="0">
              <a:buNone/>
            </a:pPr>
            <a:r>
              <a:rPr lang="en-US" sz="2200" b="1" dirty="0">
                <a:solidFill>
                  <a:srgbClr val="3348B8"/>
                </a:solidFill>
                <a:latin typeface="Calibri" pitchFamily="34" charset="0"/>
                <a:ea typeface="Calibri" pitchFamily="34" charset="-122"/>
                <a:cs typeface="Calibri" pitchFamily="34" charset="-120"/>
              </a:rPr>
              <a:t>TOP-LEVEL</a:t>
            </a:r>
            <a:endParaRPr lang="en-US" sz="2200" dirty="0"/>
          </a:p>
        </p:txBody>
      </p:sp>
      <p:sp>
        <p:nvSpPr>
          <p:cNvPr id="8" name="Text 6"/>
          <p:cNvSpPr/>
          <p:nvPr/>
        </p:nvSpPr>
        <p:spPr>
          <a:xfrm>
            <a:off x="841248" y="3611880"/>
            <a:ext cx="3118104" cy="1188720"/>
          </a:xfrm>
          <a:prstGeom prst="rect">
            <a:avLst/>
          </a:prstGeom>
          <a:noFill/>
          <a:ln/>
        </p:spPr>
        <p:txBody>
          <a:bodyPr wrap="square" lIns="0" tIns="0" rIns="0" bIns="0" rtlCol="0" anchor="t"/>
          <a:lstStyle/>
          <a:p>
            <a:pPr indent="0" marL="0">
              <a:buNone/>
            </a:pPr>
            <a:r>
              <a:rPr lang="en-US" sz="1800" dirty="0">
                <a:solidFill>
                  <a:srgbClr val="172033"/>
                </a:solidFill>
                <a:latin typeface="Calibri" pitchFamily="34" charset="0"/>
                <a:ea typeface="Calibri" pitchFamily="34" charset="-122"/>
                <a:cs typeface="Calibri" pitchFamily="34" charset="-120"/>
              </a:rPr>
              <a:t>Thấy lệnh bên ngoài.</a:t>
            </a:r>
            <a:endParaRPr lang="en-US" sz="1800" dirty="0"/>
          </a:p>
          <a:p>
            <a:pPr indent="0" marL="0">
              <a:buNone/>
            </a:pPr>
            <a:r>
              <a:rPr lang="en-US" sz="1800" dirty="0">
                <a:solidFill>
                  <a:srgbClr val="172033"/>
                </a:solidFill>
                <a:latin typeface="Calibri" pitchFamily="34" charset="0"/>
                <a:ea typeface="Calibri" pitchFamily="34" charset="-122"/>
                <a:cs typeface="Calibri" pitchFamily="34" charset="-120"/>
              </a:rPr>
              <a:t>Phạm vi baseline không đi xuống CPI.</a:t>
            </a:r>
            <a:endParaRPr lang="en-US" sz="1800" dirty="0"/>
          </a:p>
        </p:txBody>
      </p:sp>
      <p:sp>
        <p:nvSpPr>
          <p:cNvPr id="9" name="Shape 7"/>
          <p:cNvSpPr/>
          <p:nvPr/>
        </p:nvSpPr>
        <p:spPr>
          <a:xfrm>
            <a:off x="4343400" y="2743200"/>
            <a:ext cx="3520440" cy="2286000"/>
          </a:xfrm>
          <a:prstGeom prst="roundRect">
            <a:avLst>
              <a:gd name="adj" fmla="val 6400"/>
            </a:avLst>
          </a:prstGeom>
          <a:solidFill>
            <a:srgbClr val="F1F4FA"/>
          </a:solidFill>
          <a:ln w="12700">
            <a:solidFill>
              <a:srgbClr val="F1F4FA">
                <a:alpha val="0"/>
              </a:srgbClr>
            </a:solidFill>
            <a:prstDash val="solid"/>
          </a:ln>
        </p:spPr>
      </p:sp>
      <p:sp>
        <p:nvSpPr>
          <p:cNvPr id="10" name="Text 8"/>
          <p:cNvSpPr/>
          <p:nvPr/>
        </p:nvSpPr>
        <p:spPr>
          <a:xfrm>
            <a:off x="4544568" y="2944368"/>
            <a:ext cx="3118104" cy="548640"/>
          </a:xfrm>
          <a:prstGeom prst="rect">
            <a:avLst/>
          </a:prstGeom>
          <a:noFill/>
          <a:ln/>
        </p:spPr>
        <p:txBody>
          <a:bodyPr wrap="square" lIns="0" tIns="0" rIns="0" bIns="0" rtlCol="0" anchor="t"/>
          <a:lstStyle/>
          <a:p>
            <a:pPr indent="0" marL="0">
              <a:buNone/>
            </a:pPr>
            <a:r>
              <a:rPr lang="en-US" sz="2200" b="1" dirty="0">
                <a:solidFill>
                  <a:srgbClr val="3348B8"/>
                </a:solidFill>
                <a:latin typeface="Calibri" pitchFamily="34" charset="0"/>
                <a:ea typeface="Calibri" pitchFamily="34" charset="-122"/>
                <a:cs typeface="Calibri" pitchFamily="34" charset="-120"/>
              </a:rPr>
              <a:t>BALANCE DELTA</a:t>
            </a:r>
            <a:endParaRPr lang="en-US" sz="2200" dirty="0"/>
          </a:p>
        </p:txBody>
      </p:sp>
      <p:sp>
        <p:nvSpPr>
          <p:cNvPr id="11" name="Text 9"/>
          <p:cNvSpPr/>
          <p:nvPr/>
        </p:nvSpPr>
        <p:spPr>
          <a:xfrm>
            <a:off x="4544568" y="3611880"/>
            <a:ext cx="3118104" cy="1188720"/>
          </a:xfrm>
          <a:prstGeom prst="rect">
            <a:avLst/>
          </a:prstGeom>
          <a:noFill/>
          <a:ln/>
        </p:spPr>
        <p:txBody>
          <a:bodyPr wrap="square" lIns="0" tIns="0" rIns="0" bIns="0" rtlCol="0" anchor="t"/>
          <a:lstStyle/>
          <a:p>
            <a:pPr indent="0" marL="0">
              <a:buNone/>
            </a:pPr>
            <a:r>
              <a:rPr lang="en-US" sz="1800" dirty="0">
                <a:solidFill>
                  <a:srgbClr val="172033"/>
                </a:solidFill>
                <a:latin typeface="Calibri" pitchFamily="34" charset="0"/>
                <a:ea typeface="Calibri" pitchFamily="34" charset="-122"/>
                <a:cs typeface="Calibri" pitchFamily="34" charset="-120"/>
              </a:rPr>
              <a:t>Thấy số tiền thay đổi.</a:t>
            </a:r>
            <a:endParaRPr lang="en-US" sz="1800" dirty="0"/>
          </a:p>
          <a:p>
            <a:pPr indent="0" marL="0">
              <a:buNone/>
            </a:pPr>
            <a:r>
              <a:rPr lang="en-US" sz="1800" dirty="0">
                <a:solidFill>
                  <a:srgbClr val="172033"/>
                </a:solidFill>
                <a:latin typeface="Calibri" pitchFamily="34" charset="0"/>
                <a:ea typeface="Calibri" pitchFamily="34" charset="-122"/>
                <a:cs typeface="Calibri" pitchFamily="34" charset="-120"/>
              </a:rPr>
              <a:t>Không đủ để mô tả mọi thay đổi quyền.</a:t>
            </a:r>
            <a:endParaRPr lang="en-US" sz="1800" dirty="0"/>
          </a:p>
        </p:txBody>
      </p:sp>
      <p:sp>
        <p:nvSpPr>
          <p:cNvPr id="12" name="Shape 10"/>
          <p:cNvSpPr/>
          <p:nvPr/>
        </p:nvSpPr>
        <p:spPr>
          <a:xfrm>
            <a:off x="8046720" y="2743200"/>
            <a:ext cx="3520440" cy="2286000"/>
          </a:xfrm>
          <a:prstGeom prst="roundRect">
            <a:avLst>
              <a:gd name="adj" fmla="val 6400"/>
            </a:avLst>
          </a:prstGeom>
          <a:solidFill>
            <a:srgbClr val="F1F4FA"/>
          </a:solidFill>
          <a:ln w="12700">
            <a:solidFill>
              <a:srgbClr val="F1F4FA">
                <a:alpha val="0"/>
              </a:srgbClr>
            </a:solidFill>
            <a:prstDash val="solid"/>
          </a:ln>
        </p:spPr>
      </p:sp>
      <p:sp>
        <p:nvSpPr>
          <p:cNvPr id="13" name="Text 11"/>
          <p:cNvSpPr/>
          <p:nvPr/>
        </p:nvSpPr>
        <p:spPr>
          <a:xfrm>
            <a:off x="8247888" y="2944368"/>
            <a:ext cx="3118104" cy="548640"/>
          </a:xfrm>
          <a:prstGeom prst="rect">
            <a:avLst/>
          </a:prstGeom>
          <a:noFill/>
          <a:ln/>
        </p:spPr>
        <p:txBody>
          <a:bodyPr wrap="square" lIns="0" tIns="0" rIns="0" bIns="0" rtlCol="0" anchor="t"/>
          <a:lstStyle/>
          <a:p>
            <a:pPr indent="0" marL="0">
              <a:buNone/>
            </a:pPr>
            <a:r>
              <a:rPr lang="en-US" sz="2200" b="1" dirty="0">
                <a:solidFill>
                  <a:srgbClr val="087F61"/>
                </a:solidFill>
                <a:latin typeface="Calibri" pitchFamily="34" charset="0"/>
                <a:ea typeface="Calibri" pitchFamily="34" charset="-122"/>
                <a:cs typeface="Calibri" pitchFamily="34" charset="-120"/>
              </a:rPr>
              <a:t>PIPELINE CUSTOS</a:t>
            </a:r>
            <a:endParaRPr lang="en-US" sz="2200" dirty="0"/>
          </a:p>
        </p:txBody>
      </p:sp>
      <p:sp>
        <p:nvSpPr>
          <p:cNvPr id="14" name="Text 12"/>
          <p:cNvSpPr/>
          <p:nvPr/>
        </p:nvSpPr>
        <p:spPr>
          <a:xfrm>
            <a:off x="8247888" y="3611880"/>
            <a:ext cx="3118104" cy="1188720"/>
          </a:xfrm>
          <a:prstGeom prst="rect">
            <a:avLst/>
          </a:prstGeom>
          <a:noFill/>
          <a:ln/>
        </p:spPr>
        <p:txBody>
          <a:bodyPr wrap="square" lIns="0" tIns="0" rIns="0" bIns="0" rtlCol="0" anchor="t"/>
          <a:lstStyle/>
          <a:p>
            <a:pPr indent="0" marL="0">
              <a:buNone/>
            </a:pPr>
            <a:r>
              <a:rPr lang="en-US" sz="1800" dirty="0">
                <a:solidFill>
                  <a:srgbClr val="172033"/>
                </a:solidFill>
                <a:latin typeface="Calibri" pitchFamily="34" charset="0"/>
                <a:ea typeface="Calibri" pitchFamily="34" charset="-122"/>
                <a:cs typeface="Calibri" pitchFamily="34" charset="-120"/>
              </a:rPr>
              <a:t>Ghép dữ kiện + luật + giới hạn.</a:t>
            </a:r>
            <a:endParaRPr lang="en-US" sz="1800" dirty="0"/>
          </a:p>
          <a:p>
            <a:pPr indent="0" marL="0">
              <a:buNone/>
            </a:pPr>
            <a:r>
              <a:rPr lang="en-US" sz="1800" dirty="0">
                <a:solidFill>
                  <a:srgbClr val="172033"/>
                </a:solidFill>
                <a:latin typeface="Calibri" pitchFamily="34" charset="0"/>
                <a:ea typeface="Calibri" pitchFamily="34" charset="-122"/>
                <a:cs typeface="Calibri" pitchFamily="34" charset="-120"/>
              </a:rPr>
              <a:t>Kết quả vẫn chỉ đúng trong phạm vi kiểm.</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10972800" cy="274320"/>
          </a:xfrm>
          <a:prstGeom prst="rect">
            <a:avLst/>
          </a:prstGeom>
          <a:noFill/>
          <a:ln/>
        </p:spPr>
        <p:txBody>
          <a:bodyPr wrap="square" lIns="0" tIns="0" rIns="0" bIns="0" rtlCol="0" anchor="t"/>
          <a:lstStyle/>
          <a:p>
            <a:pPr indent="0" marL="0">
              <a:buNone/>
            </a:pPr>
            <a:r>
              <a:rPr lang="en-US" sz="1200" b="1" dirty="0">
                <a:solidFill>
                  <a:srgbClr val="3348B8"/>
                </a:solidFill>
                <a:latin typeface="Calibri" pitchFamily="34" charset="0"/>
                <a:ea typeface="Calibri" pitchFamily="34" charset="-122"/>
                <a:cs typeface="Calibri" pitchFamily="34" charset="-120"/>
              </a:rPr>
              <a:t>CUSTOS   /   07 / KIỂM CHỨNG</a:t>
            </a:r>
            <a:endParaRPr lang="en-US" sz="1200" dirty="0"/>
          </a:p>
        </p:txBody>
      </p:sp>
      <p:sp>
        <p:nvSpPr>
          <p:cNvPr id="3" name="Text 1"/>
          <p:cNvSpPr/>
          <p:nvPr/>
        </p:nvSpPr>
        <p:spPr>
          <a:xfrm>
            <a:off x="594360" y="868680"/>
            <a:ext cx="10972800" cy="1024128"/>
          </a:xfrm>
          <a:prstGeom prst="rect">
            <a:avLst/>
          </a:prstGeom>
          <a:noFill/>
          <a:ln/>
        </p:spPr>
        <p:txBody>
          <a:bodyPr wrap="square" lIns="0" tIns="0" rIns="0" bIns="0" rtlCol="0" anchor="t"/>
          <a:lstStyle/>
          <a:p>
            <a:pPr indent="0" marL="0">
              <a:buNone/>
            </a:pPr>
            <a:r>
              <a:rPr lang="en-US" sz="3400" b="1" dirty="0">
                <a:solidFill>
                  <a:srgbClr val="172033"/>
                </a:solidFill>
                <a:latin typeface="Calibri" pitchFamily="34" charset="0"/>
                <a:ea typeface="Calibri" pitchFamily="34" charset="-122"/>
                <a:cs typeface="Calibri" pitchFamily="34" charset="-120"/>
              </a:rPr>
              <a:t>Mỗi tầng bằng chứng trả lời một câu hỏi.</a:t>
            </a:r>
            <a:endParaRPr lang="en-US" sz="3400" dirty="0"/>
          </a:p>
        </p:txBody>
      </p:sp>
      <p:sp>
        <p:nvSpPr>
          <p:cNvPr id="4" name="Text 2"/>
          <p:cNvSpPr/>
          <p:nvPr/>
        </p:nvSpPr>
        <p:spPr>
          <a:xfrm>
            <a:off x="594360" y="1856232"/>
            <a:ext cx="10972800" cy="594360"/>
          </a:xfrm>
          <a:prstGeom prst="rect">
            <a:avLst/>
          </a:prstGeom>
          <a:noFill/>
          <a:ln/>
        </p:spPr>
        <p:txBody>
          <a:bodyPr wrap="square" lIns="0" tIns="0" rIns="0" bIns="0" rtlCol="0" anchor="t"/>
          <a:lstStyle/>
          <a:p>
            <a:pPr indent="0" marL="0">
              <a:buNone/>
            </a:pPr>
            <a:r>
              <a:rPr lang="en-US" sz="1800" dirty="0">
                <a:solidFill>
                  <a:srgbClr val="536079"/>
                </a:solidFill>
                <a:latin typeface="Calibri" pitchFamily="34" charset="0"/>
                <a:ea typeface="Calibri" pitchFamily="34" charset="-122"/>
                <a:cs typeface="Calibri" pitchFamily="34" charset="-120"/>
              </a:rPr>
              <a:t>Không cộng số test thành tỷ lệ phát hiện.</a:t>
            </a:r>
            <a:endParaRPr lang="en-US" sz="1800" dirty="0"/>
          </a:p>
        </p:txBody>
      </p:sp>
      <p:sp>
        <p:nvSpPr>
          <p:cNvPr id="5" name="Text 3"/>
          <p:cNvSpPr/>
          <p:nvPr/>
        </p:nvSpPr>
        <p:spPr>
          <a:xfrm>
            <a:off x="594360" y="6245352"/>
            <a:ext cx="10881360" cy="347472"/>
          </a:xfrm>
          <a:prstGeom prst="rect">
            <a:avLst/>
          </a:prstGeom>
          <a:noFill/>
          <a:ln/>
        </p:spPr>
        <p:txBody>
          <a:bodyPr wrap="square" lIns="0" tIns="0" rIns="0" bIns="0" rtlCol="0" anchor="t"/>
          <a:lstStyle/>
          <a:p>
            <a:pPr indent="0" marL="0">
              <a:buNone/>
            </a:pPr>
            <a:r>
              <a:rPr lang="en-US" sz="1000" dirty="0">
                <a:solidFill>
                  <a:srgbClr val="536079"/>
                </a:solidFill>
                <a:latin typeface="Calibri" pitchFamily="34" charset="0"/>
                <a:ea typeface="Calibri" pitchFamily="34" charset="-122"/>
                <a:cs typeface="Calibri" pitchFamily="34" charset="-120"/>
              </a:rPr>
              <a:t>Nguồn: so-lieu.json · data/benchmark/manifest.json · báo cáo TB-B07</a:t>
            </a:r>
            <a:endParaRPr lang="en-US" sz="1000" dirty="0"/>
          </a:p>
        </p:txBody>
      </p:sp>
      <p:sp>
        <p:nvSpPr>
          <p:cNvPr id="6" name="Shape 4"/>
          <p:cNvSpPr/>
          <p:nvPr/>
        </p:nvSpPr>
        <p:spPr>
          <a:xfrm>
            <a:off x="640080" y="2743200"/>
            <a:ext cx="3520440" cy="2286000"/>
          </a:xfrm>
          <a:prstGeom prst="roundRect">
            <a:avLst>
              <a:gd name="adj" fmla="val 6400"/>
            </a:avLst>
          </a:prstGeom>
          <a:solidFill>
            <a:srgbClr val="F1F4FA"/>
          </a:solidFill>
          <a:ln w="12700">
            <a:solidFill>
              <a:srgbClr val="F1F4FA">
                <a:alpha val="0"/>
              </a:srgbClr>
            </a:solidFill>
            <a:prstDash val="solid"/>
          </a:ln>
        </p:spPr>
      </p:sp>
      <p:sp>
        <p:nvSpPr>
          <p:cNvPr id="7" name="Text 5"/>
          <p:cNvSpPr/>
          <p:nvPr/>
        </p:nvSpPr>
        <p:spPr>
          <a:xfrm>
            <a:off x="841248" y="2944368"/>
            <a:ext cx="3118104" cy="548640"/>
          </a:xfrm>
          <a:prstGeom prst="rect">
            <a:avLst/>
          </a:prstGeom>
          <a:noFill/>
          <a:ln/>
        </p:spPr>
        <p:txBody>
          <a:bodyPr wrap="square" lIns="0" tIns="0" rIns="0" bIns="0" rtlCol="0" anchor="t"/>
          <a:lstStyle/>
          <a:p>
            <a:pPr indent="0" marL="0">
              <a:buNone/>
            </a:pPr>
            <a:r>
              <a:rPr lang="en-US" sz="2200" b="1" dirty="0">
                <a:solidFill>
                  <a:srgbClr val="3348B8"/>
                </a:solidFill>
                <a:latin typeface="Calibri" pitchFamily="34" charset="0"/>
                <a:ea typeface="Calibri" pitchFamily="34" charset="-122"/>
                <a:cs typeface="Calibri" pitchFamily="34" charset="-120"/>
              </a:rPr>
              <a:t>799 test</a:t>
            </a:r>
            <a:endParaRPr lang="en-US" sz="2200" dirty="0"/>
          </a:p>
        </p:txBody>
      </p:sp>
      <p:sp>
        <p:nvSpPr>
          <p:cNvPr id="8" name="Text 6"/>
          <p:cNvSpPr/>
          <p:nvPr/>
        </p:nvSpPr>
        <p:spPr>
          <a:xfrm>
            <a:off x="841248" y="3611880"/>
            <a:ext cx="3118104" cy="1188720"/>
          </a:xfrm>
          <a:prstGeom prst="rect">
            <a:avLst/>
          </a:prstGeom>
          <a:noFill/>
          <a:ln/>
        </p:spPr>
        <p:txBody>
          <a:bodyPr wrap="square" lIns="0" tIns="0" rIns="0" bIns="0" rtlCol="0" anchor="t"/>
          <a:lstStyle/>
          <a:p>
            <a:pPr indent="0" marL="0">
              <a:buNone/>
            </a:pPr>
            <a:r>
              <a:rPr lang="en-US" sz="1800" dirty="0">
                <a:solidFill>
                  <a:srgbClr val="172033"/>
                </a:solidFill>
                <a:latin typeface="Calibri" pitchFamily="34" charset="0"/>
                <a:ea typeface="Calibri" pitchFamily="34" charset="-122"/>
                <a:cs typeface="Calibri" pitchFamily="34" charset="-120"/>
              </a:rPr>
              <a:t>Hồi quy implementation</a:t>
            </a:r>
            <a:endParaRPr lang="en-US" sz="1800" dirty="0"/>
          </a:p>
          <a:p>
            <a:pPr indent="0" marL="0">
              <a:buNone/>
            </a:pPr>
            <a:r>
              <a:rPr lang="en-US" sz="1800" dirty="0">
                <a:solidFill>
                  <a:srgbClr val="172033"/>
                </a:solidFill>
                <a:latin typeface="Calibri" pitchFamily="34" charset="0"/>
                <a:ea typeface="Calibri" pitchFamily="34" charset="-122"/>
                <a:cs typeface="Calibri" pitchFamily="34" charset="-120"/>
              </a:rPr>
              <a:t>Không phải accuracy thị trường.</a:t>
            </a:r>
            <a:endParaRPr lang="en-US" sz="1800" dirty="0"/>
          </a:p>
        </p:txBody>
      </p:sp>
      <p:sp>
        <p:nvSpPr>
          <p:cNvPr id="9" name="Shape 7"/>
          <p:cNvSpPr/>
          <p:nvPr/>
        </p:nvSpPr>
        <p:spPr>
          <a:xfrm>
            <a:off x="4343400" y="2743200"/>
            <a:ext cx="3520440" cy="2286000"/>
          </a:xfrm>
          <a:prstGeom prst="roundRect">
            <a:avLst>
              <a:gd name="adj" fmla="val 6400"/>
            </a:avLst>
          </a:prstGeom>
          <a:solidFill>
            <a:srgbClr val="F1F4FA"/>
          </a:solidFill>
          <a:ln w="12700">
            <a:solidFill>
              <a:srgbClr val="F1F4FA">
                <a:alpha val="0"/>
              </a:srgbClr>
            </a:solidFill>
            <a:prstDash val="solid"/>
          </a:ln>
        </p:spPr>
      </p:sp>
      <p:sp>
        <p:nvSpPr>
          <p:cNvPr id="10" name="Text 8"/>
          <p:cNvSpPr/>
          <p:nvPr/>
        </p:nvSpPr>
        <p:spPr>
          <a:xfrm>
            <a:off x="4544568" y="2944368"/>
            <a:ext cx="3118104" cy="548640"/>
          </a:xfrm>
          <a:prstGeom prst="rect">
            <a:avLst/>
          </a:prstGeom>
          <a:noFill/>
          <a:ln/>
        </p:spPr>
        <p:txBody>
          <a:bodyPr wrap="square" lIns="0" tIns="0" rIns="0" bIns="0" rtlCol="0" anchor="t"/>
          <a:lstStyle/>
          <a:p>
            <a:pPr indent="0" marL="0">
              <a:buNone/>
            </a:pPr>
            <a:r>
              <a:rPr lang="en-US" sz="2200" b="1" dirty="0">
                <a:solidFill>
                  <a:srgbClr val="3348B8"/>
                </a:solidFill>
                <a:latin typeface="Calibri" pitchFamily="34" charset="0"/>
                <a:ea typeface="Calibri" pitchFamily="34" charset="-122"/>
                <a:cs typeface="Calibri" pitchFamily="34" charset="-120"/>
              </a:rPr>
              <a:t>38 mẫu seed</a:t>
            </a:r>
            <a:endParaRPr lang="en-US" sz="2200" dirty="0"/>
          </a:p>
        </p:txBody>
      </p:sp>
      <p:sp>
        <p:nvSpPr>
          <p:cNvPr id="11" name="Text 9"/>
          <p:cNvSpPr/>
          <p:nvPr/>
        </p:nvSpPr>
        <p:spPr>
          <a:xfrm>
            <a:off x="4544568" y="3611880"/>
            <a:ext cx="3118104" cy="1188720"/>
          </a:xfrm>
          <a:prstGeom prst="rect">
            <a:avLst/>
          </a:prstGeom>
          <a:noFill/>
          <a:ln/>
        </p:spPr>
        <p:txBody>
          <a:bodyPr wrap="square" lIns="0" tIns="0" rIns="0" bIns="0" rtlCol="0" anchor="t"/>
          <a:lstStyle/>
          <a:p>
            <a:pPr indent="0" marL="0">
              <a:buNone/>
            </a:pPr>
            <a:r>
              <a:rPr lang="en-US" sz="1800" dirty="0">
                <a:solidFill>
                  <a:srgbClr val="172033"/>
                </a:solidFill>
                <a:latin typeface="Calibri" pitchFamily="34" charset="0"/>
                <a:ea typeface="Calibri" pitchFamily="34" charset="-122"/>
                <a:cs typeface="Calibri" pitchFamily="34" charset="-120"/>
              </a:rPr>
              <a:t>Facts / RPC replay</a:t>
            </a:r>
            <a:endParaRPr lang="en-US" sz="1800" dirty="0"/>
          </a:p>
          <a:p>
            <a:pPr indent="0" marL="0">
              <a:buNone/>
            </a:pPr>
            <a:r>
              <a:rPr lang="en-US" sz="1800" dirty="0">
                <a:solidFill>
                  <a:srgbClr val="172033"/>
                </a:solidFill>
                <a:latin typeface="Calibri" pitchFamily="34" charset="0"/>
                <a:ea typeface="Calibri" pitchFamily="34" charset="-122"/>
                <a:cs typeface="Calibri" pitchFamily="34" charset="-120"/>
              </a:rPr>
              <a:t>Ghi rõ synthetic và dữ liệu lịch sử.</a:t>
            </a:r>
            <a:endParaRPr lang="en-US" sz="1800" dirty="0"/>
          </a:p>
        </p:txBody>
      </p:sp>
      <p:sp>
        <p:nvSpPr>
          <p:cNvPr id="12" name="Shape 10"/>
          <p:cNvSpPr/>
          <p:nvPr/>
        </p:nvSpPr>
        <p:spPr>
          <a:xfrm>
            <a:off x="8046720" y="2743200"/>
            <a:ext cx="3520440" cy="2286000"/>
          </a:xfrm>
          <a:prstGeom prst="roundRect">
            <a:avLst>
              <a:gd name="adj" fmla="val 6400"/>
            </a:avLst>
          </a:prstGeom>
          <a:solidFill>
            <a:srgbClr val="F1F4FA"/>
          </a:solidFill>
          <a:ln w="12700">
            <a:solidFill>
              <a:srgbClr val="F1F4FA">
                <a:alpha val="0"/>
              </a:srgbClr>
            </a:solidFill>
            <a:prstDash val="solid"/>
          </a:ln>
        </p:spPr>
      </p:sp>
      <p:sp>
        <p:nvSpPr>
          <p:cNvPr id="13" name="Text 11"/>
          <p:cNvSpPr/>
          <p:nvPr/>
        </p:nvSpPr>
        <p:spPr>
          <a:xfrm>
            <a:off x="8247888" y="2944368"/>
            <a:ext cx="3118104" cy="548640"/>
          </a:xfrm>
          <a:prstGeom prst="rect">
            <a:avLst/>
          </a:prstGeom>
          <a:noFill/>
          <a:ln/>
        </p:spPr>
        <p:txBody>
          <a:bodyPr wrap="square" lIns="0" tIns="0" rIns="0" bIns="0" rtlCol="0" anchor="t"/>
          <a:lstStyle/>
          <a:p>
            <a:pPr indent="0" marL="0">
              <a:buNone/>
            </a:pPr>
            <a:r>
              <a:rPr lang="en-US" sz="2200" b="1" dirty="0">
                <a:solidFill>
                  <a:srgbClr val="087F61"/>
                </a:solidFill>
                <a:latin typeface="Calibri" pitchFamily="34" charset="0"/>
                <a:ea typeface="Calibri" pitchFamily="34" charset="-122"/>
                <a:cs typeface="Calibri" pitchFamily="34" charset="-120"/>
              </a:rPr>
              <a:t>DEVNET LIVE</a:t>
            </a:r>
            <a:endParaRPr lang="en-US" sz="2200" dirty="0"/>
          </a:p>
        </p:txBody>
      </p:sp>
      <p:sp>
        <p:nvSpPr>
          <p:cNvPr id="14" name="Text 12"/>
          <p:cNvSpPr/>
          <p:nvPr/>
        </p:nvSpPr>
        <p:spPr>
          <a:xfrm>
            <a:off x="8247888" y="3611880"/>
            <a:ext cx="3118104" cy="1188720"/>
          </a:xfrm>
          <a:prstGeom prst="rect">
            <a:avLst/>
          </a:prstGeom>
          <a:noFill/>
          <a:ln/>
        </p:spPr>
        <p:txBody>
          <a:bodyPr wrap="square" lIns="0" tIns="0" rIns="0" bIns="0" rtlCol="0" anchor="t"/>
          <a:lstStyle/>
          <a:p>
            <a:pPr indent="0" marL="0">
              <a:buNone/>
            </a:pPr>
            <a:r>
              <a:rPr lang="en-US" sz="1800" dirty="0">
                <a:solidFill>
                  <a:srgbClr val="172033"/>
                </a:solidFill>
                <a:latin typeface="Calibri" pitchFamily="34" charset="0"/>
                <a:ea typeface="Calibri" pitchFamily="34" charset="-122"/>
                <a:cs typeface="Calibri" pitchFamily="34" charset="-120"/>
              </a:rPr>
              <a:t>Kiểm riêng ca demo thật</a:t>
            </a:r>
            <a:endParaRPr lang="en-US" sz="1800" dirty="0"/>
          </a:p>
          <a:p>
            <a:pPr indent="0" marL="0">
              <a:buNone/>
            </a:pPr>
            <a:r>
              <a:rPr lang="en-US" sz="1800" dirty="0">
                <a:solidFill>
                  <a:srgbClr val="172033"/>
                </a:solidFill>
                <a:latin typeface="Calibri" pitchFamily="34" charset="0"/>
                <a:ea typeface="Calibri" pitchFamily="34" charset="-122"/>
                <a:cs typeface="Calibri" pitchFamily="34" charset="-120"/>
              </a:rPr>
              <a:t>Không gọi replay là live.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10972800" cy="274320"/>
          </a:xfrm>
          <a:prstGeom prst="rect">
            <a:avLst/>
          </a:prstGeom>
          <a:noFill/>
          <a:ln/>
        </p:spPr>
        <p:txBody>
          <a:bodyPr wrap="square" lIns="0" tIns="0" rIns="0" bIns="0" rtlCol="0" anchor="t"/>
          <a:lstStyle/>
          <a:p>
            <a:pPr indent="0" marL="0">
              <a:buNone/>
            </a:pPr>
            <a:r>
              <a:rPr lang="en-US" sz="1200" b="1" dirty="0">
                <a:solidFill>
                  <a:srgbClr val="3348B8"/>
                </a:solidFill>
                <a:latin typeface="Calibri" pitchFamily="34" charset="0"/>
                <a:ea typeface="Calibri" pitchFamily="34" charset="-122"/>
                <a:cs typeface="Calibri" pitchFamily="34" charset="-120"/>
              </a:rPr>
              <a:t>CUSTOS   /   08 / TÍCH HỢP</a:t>
            </a:r>
            <a:endParaRPr lang="en-US" sz="1200" dirty="0"/>
          </a:p>
        </p:txBody>
      </p:sp>
      <p:sp>
        <p:nvSpPr>
          <p:cNvPr id="3" name="Text 1"/>
          <p:cNvSpPr/>
          <p:nvPr/>
        </p:nvSpPr>
        <p:spPr>
          <a:xfrm>
            <a:off x="594360" y="868680"/>
            <a:ext cx="10972800" cy="1024128"/>
          </a:xfrm>
          <a:prstGeom prst="rect">
            <a:avLst/>
          </a:prstGeom>
          <a:noFill/>
          <a:ln/>
        </p:spPr>
        <p:txBody>
          <a:bodyPr wrap="square" lIns="0" tIns="0" rIns="0" bIns="0" rtlCol="0" anchor="t"/>
          <a:lstStyle/>
          <a:p>
            <a:pPr indent="0" marL="0">
              <a:buNone/>
            </a:pPr>
            <a:r>
              <a:rPr lang="en-US" sz="3400" b="1" dirty="0">
                <a:solidFill>
                  <a:srgbClr val="172033"/>
                </a:solidFill>
                <a:latin typeface="Calibri" pitchFamily="34" charset="0"/>
                <a:ea typeface="Calibri" pitchFamily="34" charset="-122"/>
                <a:cs typeface="Calibri" pitchFamily="34" charset="-120"/>
              </a:rPr>
              <a:t>SDK chạy được ngoài monorepo.</a:t>
            </a:r>
            <a:endParaRPr lang="en-US" sz="3400" dirty="0"/>
          </a:p>
        </p:txBody>
      </p:sp>
      <p:sp>
        <p:nvSpPr>
          <p:cNvPr id="4" name="Text 2"/>
          <p:cNvSpPr/>
          <p:nvPr/>
        </p:nvSpPr>
        <p:spPr>
          <a:xfrm>
            <a:off x="594360" y="1856232"/>
            <a:ext cx="10972800" cy="594360"/>
          </a:xfrm>
          <a:prstGeom prst="rect">
            <a:avLst/>
          </a:prstGeom>
          <a:noFill/>
          <a:ln/>
        </p:spPr>
        <p:txBody>
          <a:bodyPr wrap="square" lIns="0" tIns="0" rIns="0" bIns="0" rtlCol="0" anchor="t"/>
          <a:lstStyle/>
          <a:p>
            <a:pPr indent="0" marL="0">
              <a:buNone/>
            </a:pPr>
            <a:r>
              <a:rPr lang="en-US" sz="1800" dirty="0">
                <a:solidFill>
                  <a:srgbClr val="536079"/>
                </a:solidFill>
                <a:latin typeface="Calibri" pitchFamily="34" charset="0"/>
                <a:ea typeface="Calibri" pitchFamily="34" charset="-122"/>
                <a:cs typeface="Calibri" pitchFamily="34" charset="-120"/>
              </a:rPr>
              <a:t>Bên tích hợp tự chọn policy và lớp diễn giải.</a:t>
            </a:r>
            <a:endParaRPr lang="en-US" sz="1800" dirty="0"/>
          </a:p>
        </p:txBody>
      </p:sp>
      <p:sp>
        <p:nvSpPr>
          <p:cNvPr id="5" name="Text 3"/>
          <p:cNvSpPr/>
          <p:nvPr/>
        </p:nvSpPr>
        <p:spPr>
          <a:xfrm>
            <a:off x="594360" y="6245352"/>
            <a:ext cx="10881360" cy="347472"/>
          </a:xfrm>
          <a:prstGeom prst="rect">
            <a:avLst/>
          </a:prstGeom>
          <a:noFill/>
          <a:ln/>
        </p:spPr>
        <p:txBody>
          <a:bodyPr wrap="square" lIns="0" tIns="0" rIns="0" bIns="0" rtlCol="0" anchor="t"/>
          <a:lstStyle/>
          <a:p>
            <a:pPr indent="0" marL="0">
              <a:buNone/>
            </a:pPr>
            <a:r>
              <a:rPr lang="en-US" sz="1000" dirty="0">
                <a:solidFill>
                  <a:srgbClr val="536079"/>
                </a:solidFill>
                <a:latin typeface="Calibri" pitchFamily="34" charset="0"/>
                <a:ea typeface="Calibri" pitchFamily="34" charset="-122"/>
                <a:cs typeface="Calibri" pitchFamily="34" charset="-120"/>
              </a:rPr>
              <a:t>Nguồn: npm run thu-goi · npm run thu-tich-hop:devnet · data/tich-hop/ket-qua.json</a:t>
            </a:r>
            <a:endParaRPr lang="en-US" sz="1000" dirty="0"/>
          </a:p>
        </p:txBody>
      </p:sp>
      <p:sp>
        <p:nvSpPr>
          <p:cNvPr id="6" name="Shape 4"/>
          <p:cNvSpPr/>
          <p:nvPr/>
        </p:nvSpPr>
        <p:spPr>
          <a:xfrm>
            <a:off x="640080" y="2743200"/>
            <a:ext cx="5257800" cy="2286000"/>
          </a:xfrm>
          <a:prstGeom prst="roundRect">
            <a:avLst>
              <a:gd name="adj" fmla="val 6400"/>
            </a:avLst>
          </a:prstGeom>
          <a:solidFill>
            <a:srgbClr val="F1F4FA"/>
          </a:solidFill>
          <a:ln w="12700">
            <a:solidFill>
              <a:srgbClr val="F1F4FA">
                <a:alpha val="0"/>
              </a:srgbClr>
            </a:solidFill>
            <a:prstDash val="solid"/>
          </a:ln>
        </p:spPr>
      </p:sp>
      <p:sp>
        <p:nvSpPr>
          <p:cNvPr id="7" name="Text 5"/>
          <p:cNvSpPr/>
          <p:nvPr/>
        </p:nvSpPr>
        <p:spPr>
          <a:xfrm>
            <a:off x="841248" y="2944368"/>
            <a:ext cx="4855464" cy="548640"/>
          </a:xfrm>
          <a:prstGeom prst="rect">
            <a:avLst/>
          </a:prstGeom>
          <a:noFill/>
          <a:ln/>
        </p:spPr>
        <p:txBody>
          <a:bodyPr wrap="square" lIns="0" tIns="0" rIns="0" bIns="0" rtlCol="0" anchor="t"/>
          <a:lstStyle/>
          <a:p>
            <a:pPr indent="0" marL="0">
              <a:buNone/>
            </a:pPr>
            <a:r>
              <a:rPr lang="en-US" sz="2200" b="1" dirty="0">
                <a:solidFill>
                  <a:srgbClr val="3348B8"/>
                </a:solidFill>
                <a:latin typeface="Calibri" pitchFamily="34" charset="0"/>
                <a:ea typeface="Calibri" pitchFamily="34" charset="-122"/>
                <a:cs typeface="Calibri" pitchFamily="34" charset="-120"/>
              </a:rPr>
              <a:t>CONSUMER ĐỘC LẬP</a:t>
            </a:r>
            <a:endParaRPr lang="en-US" sz="2200" dirty="0"/>
          </a:p>
        </p:txBody>
      </p:sp>
      <p:sp>
        <p:nvSpPr>
          <p:cNvPr id="8" name="Text 6"/>
          <p:cNvSpPr/>
          <p:nvPr/>
        </p:nvSpPr>
        <p:spPr>
          <a:xfrm>
            <a:off x="841248" y="3611880"/>
            <a:ext cx="4855464" cy="1188720"/>
          </a:xfrm>
          <a:prstGeom prst="rect">
            <a:avLst/>
          </a:prstGeom>
          <a:noFill/>
          <a:ln/>
        </p:spPr>
        <p:txBody>
          <a:bodyPr wrap="square" lIns="0" tIns="0" rIns="0" bIns="0" rtlCol="0" anchor="t"/>
          <a:lstStyle/>
          <a:p>
            <a:pPr indent="0" marL="0">
              <a:buNone/>
            </a:pPr>
            <a:r>
              <a:rPr lang="en-US" sz="1800" dirty="0">
                <a:solidFill>
                  <a:srgbClr val="172033"/>
                </a:solidFill>
                <a:latin typeface="Calibri" pitchFamily="34" charset="0"/>
                <a:ea typeface="Calibri" pitchFamily="34" charset="-122"/>
                <a:cs typeface="Calibri" pitchFamily="34" charset="-120"/>
              </a:rPr>
              <a:t>Cài tarball, chạy JavaScript và kiểm TypeScript.</a:t>
            </a:r>
            <a:endParaRPr lang="en-US" sz="1800" dirty="0"/>
          </a:p>
          <a:p>
            <a:pPr indent="0" marL="0">
              <a:buNone/>
            </a:pPr>
            <a:r>
              <a:rPr lang="en-US" sz="1800" dirty="0">
                <a:solidFill>
                  <a:srgbClr val="172033"/>
                </a:solidFill>
                <a:latin typeface="Calibri" pitchFamily="34" charset="0"/>
                <a:ea typeface="Calibri" pitchFamily="34" charset="-122"/>
                <a:cs typeface="Calibri" pitchFamily="34" charset="-120"/>
              </a:rPr>
              <a:t>RPC lỗi không được mở đường ký.</a:t>
            </a:r>
            <a:endParaRPr lang="en-US" sz="1800" dirty="0"/>
          </a:p>
        </p:txBody>
      </p:sp>
      <p:sp>
        <p:nvSpPr>
          <p:cNvPr id="9" name="Shape 7"/>
          <p:cNvSpPr/>
          <p:nvPr/>
        </p:nvSpPr>
        <p:spPr>
          <a:xfrm>
            <a:off x="6263640" y="2743200"/>
            <a:ext cx="5257800" cy="2286000"/>
          </a:xfrm>
          <a:prstGeom prst="roundRect">
            <a:avLst>
              <a:gd name="adj" fmla="val 6400"/>
            </a:avLst>
          </a:prstGeom>
          <a:solidFill>
            <a:srgbClr val="F1F4FA"/>
          </a:solidFill>
          <a:ln w="12700">
            <a:solidFill>
              <a:srgbClr val="F1F4FA">
                <a:alpha val="0"/>
              </a:srgbClr>
            </a:solidFill>
            <a:prstDash val="solid"/>
          </a:ln>
        </p:spPr>
      </p:sp>
      <p:sp>
        <p:nvSpPr>
          <p:cNvPr id="10" name="Text 8"/>
          <p:cNvSpPr/>
          <p:nvPr/>
        </p:nvSpPr>
        <p:spPr>
          <a:xfrm>
            <a:off x="6464808" y="2944368"/>
            <a:ext cx="4855464" cy="548640"/>
          </a:xfrm>
          <a:prstGeom prst="rect">
            <a:avLst/>
          </a:prstGeom>
          <a:noFill/>
          <a:ln/>
        </p:spPr>
        <p:txBody>
          <a:bodyPr wrap="square" lIns="0" tIns="0" rIns="0" bIns="0" rtlCol="0" anchor="t"/>
          <a:lstStyle/>
          <a:p>
            <a:pPr indent="0" marL="0">
              <a:buNone/>
            </a:pPr>
            <a:r>
              <a:rPr lang="en-US" sz="2200" b="1" dirty="0">
                <a:solidFill>
                  <a:srgbClr val="3348B8"/>
                </a:solidFill>
                <a:latin typeface="Calibri" pitchFamily="34" charset="0"/>
                <a:ea typeface="Calibri" pitchFamily="34" charset="-122"/>
                <a:cs typeface="Calibri" pitchFamily="34" charset="-120"/>
              </a:rPr>
              <a:t>GIỚI HẠN ĐÚNG TÊN</a:t>
            </a:r>
            <a:endParaRPr lang="en-US" sz="2200" dirty="0"/>
          </a:p>
        </p:txBody>
      </p:sp>
      <p:sp>
        <p:nvSpPr>
          <p:cNvPr id="11" name="Text 9"/>
          <p:cNvSpPr/>
          <p:nvPr/>
        </p:nvSpPr>
        <p:spPr>
          <a:xfrm>
            <a:off x="6464808" y="3611880"/>
            <a:ext cx="4855464" cy="1188720"/>
          </a:xfrm>
          <a:prstGeom prst="rect">
            <a:avLst/>
          </a:prstGeom>
          <a:noFill/>
          <a:ln/>
        </p:spPr>
        <p:txBody>
          <a:bodyPr wrap="square" lIns="0" tIns="0" rIns="0" bIns="0" rtlCol="0" anchor="t"/>
          <a:lstStyle/>
          <a:p>
            <a:pPr indent="0" marL="0">
              <a:buNone/>
            </a:pPr>
            <a:r>
              <a:rPr lang="en-US" sz="1800" dirty="0">
                <a:solidFill>
                  <a:srgbClr val="172033"/>
                </a:solidFill>
                <a:latin typeface="Calibri" pitchFamily="34" charset="0"/>
                <a:ea typeface="Calibri" pitchFamily="34" charset="-122"/>
                <a:cs typeface="Calibri" pitchFamily="34" charset="-120"/>
              </a:rPr>
              <a:t>Ví dụ tích hợp do đội dựng.</a:t>
            </a:r>
            <a:endParaRPr lang="en-US" sz="1800" dirty="0"/>
          </a:p>
          <a:p>
            <a:pPr indent="0" marL="0">
              <a:buNone/>
            </a:pPr>
            <a:r>
              <a:rPr lang="en-US" sz="1800" dirty="0">
                <a:solidFill>
                  <a:srgbClr val="172033"/>
                </a:solidFill>
                <a:latin typeface="Calibri" pitchFamily="34" charset="0"/>
                <a:ea typeface="Calibri" pitchFamily="34" charset="-122"/>
                <a:cs typeface="Calibri" pitchFamily="34" charset="-120"/>
              </a:rPr>
              <a:t>Chưa có partner pilot hay khách hàng xác nhận.</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10972800" cy="274320"/>
          </a:xfrm>
          <a:prstGeom prst="rect">
            <a:avLst/>
          </a:prstGeom>
          <a:noFill/>
          <a:ln/>
        </p:spPr>
        <p:txBody>
          <a:bodyPr wrap="square" lIns="0" tIns="0" rIns="0" bIns="0" rtlCol="0" anchor="t"/>
          <a:lstStyle/>
          <a:p>
            <a:pPr indent="0" marL="0">
              <a:buNone/>
            </a:pPr>
            <a:r>
              <a:rPr lang="en-US" sz="1200" b="1" dirty="0">
                <a:solidFill>
                  <a:srgbClr val="3348B8"/>
                </a:solidFill>
                <a:latin typeface="Calibri" pitchFamily="34" charset="0"/>
                <a:ea typeface="Calibri" pitchFamily="34" charset="-122"/>
                <a:cs typeface="Calibri" pitchFamily="34" charset="-120"/>
              </a:rPr>
              <a:t>CUSTOS   /   09 / GIỚI HẠN</a:t>
            </a:r>
            <a:endParaRPr lang="en-US" sz="1200" dirty="0"/>
          </a:p>
        </p:txBody>
      </p:sp>
      <p:sp>
        <p:nvSpPr>
          <p:cNvPr id="3" name="Text 1"/>
          <p:cNvSpPr/>
          <p:nvPr/>
        </p:nvSpPr>
        <p:spPr>
          <a:xfrm>
            <a:off x="594360" y="868680"/>
            <a:ext cx="10972800" cy="1024128"/>
          </a:xfrm>
          <a:prstGeom prst="rect">
            <a:avLst/>
          </a:prstGeom>
          <a:noFill/>
          <a:ln/>
        </p:spPr>
        <p:txBody>
          <a:bodyPr wrap="square" lIns="0" tIns="0" rIns="0" bIns="0" rtlCol="0" anchor="t"/>
          <a:lstStyle/>
          <a:p>
            <a:pPr indent="0" marL="0">
              <a:buNone/>
            </a:pPr>
            <a:r>
              <a:rPr lang="en-US" sz="3400" b="1" dirty="0">
                <a:solidFill>
                  <a:srgbClr val="172033"/>
                </a:solidFill>
                <a:latin typeface="Calibri" pitchFamily="34" charset="0"/>
                <a:ea typeface="Calibri" pitchFamily="34" charset="-122"/>
                <a:cs typeface="Calibri" pitchFamily="34" charset="-120"/>
              </a:rPr>
              <a:t>AI không sở hữu phán quyết.</a:t>
            </a:r>
            <a:endParaRPr lang="en-US" sz="3400" dirty="0"/>
          </a:p>
        </p:txBody>
      </p:sp>
      <p:sp>
        <p:nvSpPr>
          <p:cNvPr id="4" name="Text 2"/>
          <p:cNvSpPr/>
          <p:nvPr/>
        </p:nvSpPr>
        <p:spPr>
          <a:xfrm>
            <a:off x="594360" y="1856232"/>
            <a:ext cx="10972800" cy="594360"/>
          </a:xfrm>
          <a:prstGeom prst="rect">
            <a:avLst/>
          </a:prstGeom>
          <a:noFill/>
          <a:ln/>
        </p:spPr>
        <p:txBody>
          <a:bodyPr wrap="square" lIns="0" tIns="0" rIns="0" bIns="0" rtlCol="0" anchor="t"/>
          <a:lstStyle/>
          <a:p>
            <a:pPr indent="0" marL="0">
              <a:buNone/>
            </a:pPr>
            <a:r>
              <a:rPr lang="en-US" sz="1800" dirty="0">
                <a:solidFill>
                  <a:srgbClr val="536079"/>
                </a:solidFill>
                <a:latin typeface="Calibri" pitchFamily="34" charset="0"/>
                <a:ea typeface="Calibri" pitchFamily="34" charset="-122"/>
                <a:cs typeface="Calibri" pitchFamily="34" charset="-120"/>
              </a:rPr>
              <a:t>Hiện chưa chứng minh lợi ích vượt template trên phép đo đang có.</a:t>
            </a:r>
            <a:endParaRPr lang="en-US" sz="1800" dirty="0"/>
          </a:p>
        </p:txBody>
      </p:sp>
      <p:sp>
        <p:nvSpPr>
          <p:cNvPr id="5" name="Text 3"/>
          <p:cNvSpPr/>
          <p:nvPr/>
        </p:nvSpPr>
        <p:spPr>
          <a:xfrm>
            <a:off x="594360" y="6245352"/>
            <a:ext cx="10881360" cy="347472"/>
          </a:xfrm>
          <a:prstGeom prst="rect">
            <a:avLst/>
          </a:prstGeom>
          <a:noFill/>
          <a:ln/>
        </p:spPr>
        <p:txBody>
          <a:bodyPr wrap="square" lIns="0" tIns="0" rIns="0" bIns="0" rtlCol="0" anchor="t"/>
          <a:lstStyle/>
          <a:p>
            <a:pPr indent="0" marL="0">
              <a:buNone/>
            </a:pPr>
            <a:r>
              <a:rPr lang="en-US" sz="1000" dirty="0">
                <a:solidFill>
                  <a:srgbClr val="536079"/>
                </a:solidFill>
                <a:latin typeface="Calibri" pitchFamily="34" charset="0"/>
                <a:ea typeface="Calibri" pitchFamily="34" charset="-122"/>
                <a:cs typeface="Calibri" pitchFamily="34" charset="-120"/>
              </a:rPr>
              <a:t>Nguồn: data/eval/ai-ket-qua.json · docs/DON-VI-KINH-TE.md · docs/PHU-THUOC.md</a:t>
            </a:r>
            <a:endParaRPr lang="en-US" sz="1000" dirty="0"/>
          </a:p>
        </p:txBody>
      </p:sp>
      <p:sp>
        <p:nvSpPr>
          <p:cNvPr id="6" name="Shape 4"/>
          <p:cNvSpPr/>
          <p:nvPr/>
        </p:nvSpPr>
        <p:spPr>
          <a:xfrm>
            <a:off x="640080" y="2743200"/>
            <a:ext cx="5257800" cy="2286000"/>
          </a:xfrm>
          <a:prstGeom prst="roundRect">
            <a:avLst>
              <a:gd name="adj" fmla="val 6400"/>
            </a:avLst>
          </a:prstGeom>
          <a:solidFill>
            <a:srgbClr val="F1F4FA"/>
          </a:solidFill>
          <a:ln w="12700">
            <a:solidFill>
              <a:srgbClr val="F1F4FA">
                <a:alpha val="0"/>
              </a:srgbClr>
            </a:solidFill>
            <a:prstDash val="solid"/>
          </a:ln>
        </p:spPr>
      </p:sp>
      <p:sp>
        <p:nvSpPr>
          <p:cNvPr id="7" name="Text 5"/>
          <p:cNvSpPr/>
          <p:nvPr/>
        </p:nvSpPr>
        <p:spPr>
          <a:xfrm>
            <a:off x="841248" y="2944368"/>
            <a:ext cx="4855464" cy="548640"/>
          </a:xfrm>
          <a:prstGeom prst="rect">
            <a:avLst/>
          </a:prstGeom>
          <a:noFill/>
          <a:ln/>
        </p:spPr>
        <p:txBody>
          <a:bodyPr wrap="square" lIns="0" tIns="0" rIns="0" bIns="0" rtlCol="0" anchor="t"/>
          <a:lstStyle/>
          <a:p>
            <a:pPr indent="0" marL="0">
              <a:buNone/>
            </a:pPr>
            <a:r>
              <a:rPr lang="en-US" sz="2200" b="1" dirty="0">
                <a:solidFill>
                  <a:srgbClr val="B52046"/>
                </a:solidFill>
                <a:latin typeface="Calibri" pitchFamily="34" charset="0"/>
                <a:ea typeface="Calibri" pitchFamily="34" charset="-122"/>
                <a:cs typeface="Calibri" pitchFamily="34" charset="-120"/>
              </a:rPr>
              <a:t>RANH GIỚI</a:t>
            </a:r>
            <a:endParaRPr lang="en-US" sz="2200" dirty="0"/>
          </a:p>
        </p:txBody>
      </p:sp>
      <p:sp>
        <p:nvSpPr>
          <p:cNvPr id="8" name="Text 6"/>
          <p:cNvSpPr/>
          <p:nvPr/>
        </p:nvSpPr>
        <p:spPr>
          <a:xfrm>
            <a:off x="841248" y="3611880"/>
            <a:ext cx="4855464" cy="1188720"/>
          </a:xfrm>
          <a:prstGeom prst="rect">
            <a:avLst/>
          </a:prstGeom>
          <a:noFill/>
          <a:ln/>
        </p:spPr>
        <p:txBody>
          <a:bodyPr wrap="square" lIns="0" tIns="0" rIns="0" bIns="0" rtlCol="0" anchor="t"/>
          <a:lstStyle/>
          <a:p>
            <a:pPr indent="0" marL="0">
              <a:buNone/>
            </a:pPr>
            <a:r>
              <a:rPr lang="en-US" sz="1800" dirty="0">
                <a:solidFill>
                  <a:srgbClr val="172033"/>
                </a:solidFill>
                <a:latin typeface="Calibri" pitchFamily="34" charset="0"/>
                <a:ea typeface="Calibri" pitchFamily="34" charset="-122"/>
                <a:cs typeface="Calibri" pitchFamily="34" charset="-120"/>
              </a:rPr>
              <a:t>AI không được xác nhận giao dịch an toàn, cũng không được kết luận giao dịch nguy hiểm.</a:t>
            </a:r>
            <a:endParaRPr lang="en-US" sz="1800" dirty="0"/>
          </a:p>
        </p:txBody>
      </p:sp>
      <p:sp>
        <p:nvSpPr>
          <p:cNvPr id="9" name="Shape 7"/>
          <p:cNvSpPr/>
          <p:nvPr/>
        </p:nvSpPr>
        <p:spPr>
          <a:xfrm>
            <a:off x="6263640" y="2743200"/>
            <a:ext cx="5257800" cy="2286000"/>
          </a:xfrm>
          <a:prstGeom prst="roundRect">
            <a:avLst>
              <a:gd name="adj" fmla="val 6400"/>
            </a:avLst>
          </a:prstGeom>
          <a:solidFill>
            <a:srgbClr val="F1F4FA"/>
          </a:solidFill>
          <a:ln w="12700">
            <a:solidFill>
              <a:srgbClr val="F1F4FA">
                <a:alpha val="0"/>
              </a:srgbClr>
            </a:solidFill>
            <a:prstDash val="solid"/>
          </a:ln>
        </p:spPr>
      </p:sp>
      <p:sp>
        <p:nvSpPr>
          <p:cNvPr id="10" name="Text 8"/>
          <p:cNvSpPr/>
          <p:nvPr/>
        </p:nvSpPr>
        <p:spPr>
          <a:xfrm>
            <a:off x="6464808" y="2944368"/>
            <a:ext cx="4855464" cy="548640"/>
          </a:xfrm>
          <a:prstGeom prst="rect">
            <a:avLst/>
          </a:prstGeom>
          <a:noFill/>
          <a:ln/>
        </p:spPr>
        <p:txBody>
          <a:bodyPr wrap="square" lIns="0" tIns="0" rIns="0" bIns="0" rtlCol="0" anchor="t"/>
          <a:lstStyle/>
          <a:p>
            <a:pPr indent="0" marL="0">
              <a:buNone/>
            </a:pPr>
            <a:r>
              <a:rPr lang="en-US" sz="2200" b="1" dirty="0">
                <a:solidFill>
                  <a:srgbClr val="3348B8"/>
                </a:solidFill>
                <a:latin typeface="Calibri" pitchFamily="34" charset="0"/>
                <a:ea typeface="Calibri" pitchFamily="34" charset="-122"/>
                <a:cs typeface="Calibri" pitchFamily="34" charset="-120"/>
              </a:rPr>
              <a:t>PHẦN CÒN MỞ</a:t>
            </a:r>
            <a:endParaRPr lang="en-US" sz="2200" dirty="0"/>
          </a:p>
        </p:txBody>
      </p:sp>
      <p:sp>
        <p:nvSpPr>
          <p:cNvPr id="11" name="Text 9"/>
          <p:cNvSpPr/>
          <p:nvPr/>
        </p:nvSpPr>
        <p:spPr>
          <a:xfrm>
            <a:off x="6464808" y="3611880"/>
            <a:ext cx="4855464" cy="1188720"/>
          </a:xfrm>
          <a:prstGeom prst="rect">
            <a:avLst/>
          </a:prstGeom>
          <a:noFill/>
          <a:ln/>
        </p:spPr>
        <p:txBody>
          <a:bodyPr wrap="square" lIns="0" tIns="0" rIns="0" bIns="0" rtlCol="0" anchor="t"/>
          <a:lstStyle/>
          <a:p>
            <a:pPr indent="0" marL="0">
              <a:buNone/>
            </a:pPr>
            <a:r>
              <a:rPr lang="en-US" sz="1800" dirty="0">
                <a:solidFill>
                  <a:srgbClr val="172033"/>
                </a:solidFill>
                <a:latin typeface="Calibri" pitchFamily="34" charset="0"/>
                <a:ea typeface="Calibri" pitchFamily="34" charset="-122"/>
                <a:cs typeface="Calibri" pitchFamily="34" charset="-120"/>
              </a:rPr>
              <a:t>RPC là giả định tin cậy.</a:t>
            </a:r>
            <a:endParaRPr lang="en-US" sz="1800" dirty="0"/>
          </a:p>
          <a:p>
            <a:pPr indent="0" marL="0">
              <a:buNone/>
            </a:pPr>
            <a:r>
              <a:rPr lang="en-US" sz="1800" dirty="0">
                <a:solidFill>
                  <a:srgbClr val="172033"/>
                </a:solidFill>
                <a:latin typeface="Calibri" pitchFamily="34" charset="0"/>
                <a:ea typeface="Calibri" pitchFamily="34" charset="-122"/>
                <a:cs typeface="Calibri" pitchFamily="34" charset="-120"/>
              </a:rPr>
              <a:t>Program chưa biết, advisory và giới hạn browser được công khai.</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B31"/>
        </a:solidFill>
      </p:bgPr>
    </p:bg>
    <p:spTree>
      <p:nvGrpSpPr>
        <p:cNvPr id="1" name=""/>
        <p:cNvGrpSpPr/>
        <p:nvPr/>
      </p:nvGrpSpPr>
      <p:grpSpPr>
        <a:xfrm>
          <a:off x="0" y="0"/>
          <a:ext cx="0" cy="0"/>
          <a:chOff x="0" y="0"/>
          <a:chExt cx="0" cy="0"/>
        </a:xfrm>
      </p:grpSpPr>
      <p:sp>
        <p:nvSpPr>
          <p:cNvPr id="2" name="Text 0"/>
          <p:cNvSpPr/>
          <p:nvPr/>
        </p:nvSpPr>
        <p:spPr>
          <a:xfrm>
            <a:off x="594360" y="320040"/>
            <a:ext cx="10972800" cy="274320"/>
          </a:xfrm>
          <a:prstGeom prst="rect">
            <a:avLst/>
          </a:prstGeom>
          <a:noFill/>
          <a:ln/>
        </p:spPr>
        <p:txBody>
          <a:bodyPr wrap="square" lIns="0" tIns="0" rIns="0" bIns="0" rtlCol="0" anchor="t"/>
          <a:lstStyle/>
          <a:p>
            <a:pPr indent="0" marL="0">
              <a:buNone/>
            </a:pPr>
            <a:r>
              <a:rPr lang="en-US" sz="1200" b="1" dirty="0">
                <a:solidFill>
                  <a:srgbClr val="A7B7E5"/>
                </a:solidFill>
                <a:latin typeface="Calibri" pitchFamily="34" charset="0"/>
                <a:ea typeface="Calibri" pitchFamily="34" charset="-122"/>
                <a:cs typeface="Calibri" pitchFamily="34" charset="-120"/>
              </a:rPr>
              <a:t>CUSTOS   /   10 / KẾT</a:t>
            </a:r>
            <a:endParaRPr lang="en-US" sz="1200" dirty="0"/>
          </a:p>
        </p:txBody>
      </p:sp>
      <p:sp>
        <p:nvSpPr>
          <p:cNvPr id="3" name="Text 1"/>
          <p:cNvSpPr/>
          <p:nvPr/>
        </p:nvSpPr>
        <p:spPr>
          <a:xfrm>
            <a:off x="594360" y="868680"/>
            <a:ext cx="10972800" cy="1024128"/>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Một cảnh báo cần có đường truy về bằng chứng.</a:t>
            </a:r>
            <a:endParaRPr lang="en-US" sz="3400" dirty="0"/>
          </a:p>
        </p:txBody>
      </p:sp>
      <p:sp>
        <p:nvSpPr>
          <p:cNvPr id="4" name="Text 2"/>
          <p:cNvSpPr/>
          <p:nvPr/>
        </p:nvSpPr>
        <p:spPr>
          <a:xfrm>
            <a:off x="594360" y="1856232"/>
            <a:ext cx="10972800" cy="594360"/>
          </a:xfrm>
          <a:prstGeom prst="rect">
            <a:avLst/>
          </a:prstGeom>
          <a:noFill/>
          <a:ln/>
        </p:spPr>
        <p:txBody>
          <a:bodyPr wrap="square" lIns="0" tIns="0" rIns="0" bIns="0" rtlCol="0" anchor="t"/>
          <a:lstStyle/>
          <a:p>
            <a:pPr indent="0" marL="0">
              <a:buNone/>
            </a:pPr>
            <a:r>
              <a:rPr lang="en-US" sz="1800" dirty="0">
                <a:solidFill>
                  <a:srgbClr val="C9D3EA"/>
                </a:solidFill>
                <a:latin typeface="Calibri" pitchFamily="34" charset="0"/>
                <a:ea typeface="Calibri" pitchFamily="34" charset="-122"/>
                <a:cs typeface="Calibri" pitchFamily="34" charset="-120"/>
              </a:rPr>
              <a:t>Rule/reason đã có; trace dữ kiện có cấu trúc mới phủ 2/14 luật.</a:t>
            </a:r>
            <a:endParaRPr lang="en-US" sz="1800" dirty="0"/>
          </a:p>
        </p:txBody>
      </p:sp>
      <p:sp>
        <p:nvSpPr>
          <p:cNvPr id="5" name="Text 3"/>
          <p:cNvSpPr/>
          <p:nvPr/>
        </p:nvSpPr>
        <p:spPr>
          <a:xfrm>
            <a:off x="594360" y="6245352"/>
            <a:ext cx="10881360" cy="347472"/>
          </a:xfrm>
          <a:prstGeom prst="rect">
            <a:avLst/>
          </a:prstGeom>
          <a:noFill/>
          <a:ln/>
        </p:spPr>
        <p:txBody>
          <a:bodyPr wrap="square" lIns="0" tIns="0" rIns="0" bIns="0" rtlCol="0" anchor="t"/>
          <a:lstStyle/>
          <a:p>
            <a:pPr indent="0" marL="0">
              <a:buNone/>
            </a:pPr>
            <a:r>
              <a:rPr lang="en-US" sz="1000" dirty="0">
                <a:solidFill>
                  <a:srgbClr val="A7B7E5"/>
                </a:solidFill>
                <a:latin typeface="Calibri" pitchFamily="34" charset="0"/>
                <a:ea typeface="Calibri" pitchFamily="34" charset="-122"/>
                <a:cs typeface="Calibri" pitchFamily="34" charset="-120"/>
              </a:rPr>
              <a:t>Demo: neitln.github.io/Custos-Solana/ · Repo: github.com/NeitLN/Custos-Solana</a:t>
            </a:r>
            <a:endParaRPr lang="en-US" sz="1000" dirty="0"/>
          </a:p>
        </p:txBody>
      </p:sp>
      <p:sp>
        <p:nvSpPr>
          <p:cNvPr id="6" name="Text 4"/>
          <p:cNvSpPr/>
          <p:nvPr/>
        </p:nvSpPr>
        <p:spPr>
          <a:xfrm>
            <a:off x="731520" y="2743200"/>
            <a:ext cx="10789920" cy="219456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Xem hậu quả.</a:t>
            </a:r>
            <a:endParaRPr lang="en-US" sz="4000" dirty="0"/>
          </a:p>
          <a:p>
            <a:pPr indent="0" marL="0">
              <a:buNone/>
            </a:pPr>
            <a:r>
              <a:rPr lang="en-US" sz="4000" b="1" dirty="0">
                <a:solidFill>
                  <a:srgbClr val="FFFFFF"/>
                </a:solidFill>
                <a:latin typeface="Calibri" pitchFamily="34" charset="0"/>
                <a:ea typeface="Calibri" pitchFamily="34" charset="-122"/>
                <a:cs typeface="Calibri" pitchFamily="34" charset="-120"/>
              </a:rPr>
              <a:t>Xem lý do.</a:t>
            </a:r>
            <a:endParaRPr lang="en-US" sz="4000" dirty="0"/>
          </a:p>
          <a:p>
            <a:pPr indent="0" marL="0">
              <a:buNone/>
            </a:pPr>
            <a:r>
              <a:rPr lang="en-US" sz="4000" b="1" dirty="0">
                <a:solidFill>
                  <a:srgbClr val="FFFFFF"/>
                </a:solidFill>
                <a:latin typeface="Calibri" pitchFamily="34" charset="0"/>
                <a:ea typeface="Calibri" pitchFamily="34" charset="-122"/>
                <a:cs typeface="Calibri" pitchFamily="34" charset="-120"/>
              </a:rPr>
              <a:t>Xem phần chưa biết.</a:t>
            </a:r>
            <a:endParaRPr lang="en-US" sz="4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10972800" cy="274320"/>
          </a:xfrm>
          <a:prstGeom prst="rect">
            <a:avLst/>
          </a:prstGeom>
          <a:noFill/>
          <a:ln/>
        </p:spPr>
        <p:txBody>
          <a:bodyPr wrap="square" lIns="0" tIns="0" rIns="0" bIns="0" rtlCol="0" anchor="t"/>
          <a:lstStyle/>
          <a:p>
            <a:pPr indent="0" marL="0">
              <a:buNone/>
            </a:pPr>
            <a:r>
              <a:rPr lang="en-US" sz="1200" b="1" dirty="0">
                <a:solidFill>
                  <a:srgbClr val="3348B8"/>
                </a:solidFill>
                <a:latin typeface="Calibri" pitchFamily="34" charset="0"/>
                <a:ea typeface="Calibri" pitchFamily="34" charset="-122"/>
                <a:cs typeface="Calibri" pitchFamily="34" charset="-120"/>
              </a:rPr>
              <a:t>CUSTOS   /   11 / Q&amp;A</a:t>
            </a:r>
            <a:endParaRPr lang="en-US" sz="1200" dirty="0"/>
          </a:p>
        </p:txBody>
      </p:sp>
      <p:sp>
        <p:nvSpPr>
          <p:cNvPr id="3" name="Text 1"/>
          <p:cNvSpPr/>
          <p:nvPr/>
        </p:nvSpPr>
        <p:spPr>
          <a:xfrm>
            <a:off x="594360" y="868680"/>
            <a:ext cx="10972800" cy="1024128"/>
          </a:xfrm>
          <a:prstGeom prst="rect">
            <a:avLst/>
          </a:prstGeom>
          <a:noFill/>
          <a:ln/>
        </p:spPr>
        <p:txBody>
          <a:bodyPr wrap="square" lIns="0" tIns="0" rIns="0" bIns="0" rtlCol="0" anchor="t"/>
          <a:lstStyle/>
          <a:p>
            <a:pPr indent="0" marL="0">
              <a:buNone/>
            </a:pPr>
            <a:r>
              <a:rPr lang="en-US" sz="3400" b="1" dirty="0">
                <a:solidFill>
                  <a:srgbClr val="172033"/>
                </a:solidFill>
                <a:latin typeface="Calibri" pitchFamily="34" charset="0"/>
                <a:ea typeface="Calibri" pitchFamily="34" charset="-122"/>
                <a:cs typeface="Calibri" pitchFamily="34" charset="-120"/>
              </a:rPr>
              <a:t>Vì sao không viết smart contract riêng?</a:t>
            </a:r>
            <a:endParaRPr lang="en-US" sz="3400" dirty="0"/>
          </a:p>
        </p:txBody>
      </p:sp>
      <p:sp>
        <p:nvSpPr>
          <p:cNvPr id="4" name="Text 2"/>
          <p:cNvSpPr/>
          <p:nvPr/>
        </p:nvSpPr>
        <p:spPr>
          <a:xfrm>
            <a:off x="594360" y="1856232"/>
            <a:ext cx="10972800" cy="594360"/>
          </a:xfrm>
          <a:prstGeom prst="rect">
            <a:avLst/>
          </a:prstGeom>
          <a:noFill/>
          <a:ln/>
        </p:spPr>
        <p:txBody>
          <a:bodyPr wrap="square" lIns="0" tIns="0" rIns="0" bIns="0" rtlCol="0" anchor="t"/>
          <a:lstStyle/>
          <a:p>
            <a:pPr indent="0" marL="0">
              <a:buNone/>
            </a:pPr>
            <a:r>
              <a:rPr lang="en-US" sz="1800" dirty="0">
                <a:solidFill>
                  <a:srgbClr val="536079"/>
                </a:solidFill>
                <a:latin typeface="Calibri" pitchFamily="34" charset="0"/>
                <a:ea typeface="Calibri" pitchFamily="34" charset="-122"/>
                <a:cs typeface="Calibri" pitchFamily="34" charset="-120"/>
              </a:rPr>
              <a:t>Thiết kế hiện tại thực hiện trách nhiệm đọc và mô phỏng ở phía ví.</a:t>
            </a:r>
            <a:endParaRPr lang="en-US" sz="1800" dirty="0"/>
          </a:p>
        </p:txBody>
      </p:sp>
      <p:sp>
        <p:nvSpPr>
          <p:cNvPr id="5" name="Text 3"/>
          <p:cNvSpPr/>
          <p:nvPr/>
        </p:nvSpPr>
        <p:spPr>
          <a:xfrm>
            <a:off x="594360" y="6245352"/>
            <a:ext cx="10881360" cy="347472"/>
          </a:xfrm>
          <a:prstGeom prst="rect">
            <a:avLst/>
          </a:prstGeom>
          <a:noFill/>
          <a:ln/>
        </p:spPr>
        <p:txBody>
          <a:bodyPr wrap="square" lIns="0" tIns="0" rIns="0" bIns="0" rtlCol="0" anchor="t"/>
          <a:lstStyle/>
          <a:p>
            <a:pPr indent="0" marL="0">
              <a:buNone/>
            </a:pPr>
            <a:r>
              <a:rPr lang="en-US" sz="1000" dirty="0">
                <a:solidFill>
                  <a:srgbClr val="536079"/>
                </a:solidFill>
                <a:latin typeface="Calibri" pitchFamily="34" charset="0"/>
                <a:ea typeface="Calibri" pitchFamily="34" charset="-122"/>
                <a:cs typeface="Calibri" pitchFamily="34" charset="-120"/>
              </a:rPr>
              <a:t>Nguồn: ADR-0001 · CLAUDE.md quyết định 5 · TB-H01</a:t>
            </a:r>
            <a:endParaRPr lang="en-US" sz="1000" dirty="0"/>
          </a:p>
        </p:txBody>
      </p:sp>
      <p:sp>
        <p:nvSpPr>
          <p:cNvPr id="6" name="Shape 4"/>
          <p:cNvSpPr/>
          <p:nvPr/>
        </p:nvSpPr>
        <p:spPr>
          <a:xfrm>
            <a:off x="640080" y="2743200"/>
            <a:ext cx="5257800" cy="2286000"/>
          </a:xfrm>
          <a:prstGeom prst="roundRect">
            <a:avLst>
              <a:gd name="adj" fmla="val 6400"/>
            </a:avLst>
          </a:prstGeom>
          <a:solidFill>
            <a:srgbClr val="F1F4FA"/>
          </a:solidFill>
          <a:ln w="12700">
            <a:solidFill>
              <a:srgbClr val="F1F4FA">
                <a:alpha val="0"/>
              </a:srgbClr>
            </a:solidFill>
            <a:prstDash val="solid"/>
          </a:ln>
        </p:spPr>
      </p:sp>
      <p:sp>
        <p:nvSpPr>
          <p:cNvPr id="7" name="Text 5"/>
          <p:cNvSpPr/>
          <p:nvPr/>
        </p:nvSpPr>
        <p:spPr>
          <a:xfrm>
            <a:off x="841248" y="2944368"/>
            <a:ext cx="4855464" cy="548640"/>
          </a:xfrm>
          <a:prstGeom prst="rect">
            <a:avLst/>
          </a:prstGeom>
          <a:noFill/>
          <a:ln/>
        </p:spPr>
        <p:txBody>
          <a:bodyPr wrap="square" lIns="0" tIns="0" rIns="0" bIns="0" rtlCol="0" anchor="t"/>
          <a:lstStyle/>
          <a:p>
            <a:pPr indent="0" marL="0">
              <a:buNone/>
            </a:pPr>
            <a:r>
              <a:rPr lang="en-US" sz="2200" b="1" dirty="0">
                <a:solidFill>
                  <a:srgbClr val="3348B8"/>
                </a:solidFill>
                <a:latin typeface="Calibri" pitchFamily="34" charset="0"/>
                <a:ea typeface="Calibri" pitchFamily="34" charset="-122"/>
                <a:cs typeface="Calibri" pitchFamily="34" charset="-120"/>
              </a:rPr>
              <a:t>LÝ DO KỸ THUẬT</a:t>
            </a:r>
            <a:endParaRPr lang="en-US" sz="2200" dirty="0"/>
          </a:p>
        </p:txBody>
      </p:sp>
      <p:sp>
        <p:nvSpPr>
          <p:cNvPr id="8" name="Text 6"/>
          <p:cNvSpPr/>
          <p:nvPr/>
        </p:nvSpPr>
        <p:spPr>
          <a:xfrm>
            <a:off x="841248" y="3611880"/>
            <a:ext cx="4855464" cy="1188720"/>
          </a:xfrm>
          <a:prstGeom prst="rect">
            <a:avLst/>
          </a:prstGeom>
          <a:noFill/>
          <a:ln/>
        </p:spPr>
        <p:txBody>
          <a:bodyPr wrap="square" lIns="0" tIns="0" rIns="0" bIns="0" rtlCol="0" anchor="t"/>
          <a:lstStyle/>
          <a:p>
            <a:pPr indent="0" marL="0">
              <a:buNone/>
            </a:pPr>
            <a:r>
              <a:rPr lang="en-US" sz="1800" dirty="0">
                <a:solidFill>
                  <a:srgbClr val="172033"/>
                </a:solidFill>
                <a:latin typeface="Calibri" pitchFamily="34" charset="0"/>
                <a:ea typeface="Calibri" pitchFamily="34" charset="-122"/>
                <a:cs typeface="Calibri" pitchFamily="34" charset="-120"/>
              </a:rPr>
              <a:t>Contract mới không tự xác thực dữ liệu RPC hoặc khiến ví bắt buộc dùng SDK.</a:t>
            </a:r>
            <a:endParaRPr lang="en-US" sz="1800" dirty="0"/>
          </a:p>
        </p:txBody>
      </p:sp>
      <p:sp>
        <p:nvSpPr>
          <p:cNvPr id="9" name="Shape 7"/>
          <p:cNvSpPr/>
          <p:nvPr/>
        </p:nvSpPr>
        <p:spPr>
          <a:xfrm>
            <a:off x="6263640" y="2743200"/>
            <a:ext cx="5257800" cy="2286000"/>
          </a:xfrm>
          <a:prstGeom prst="roundRect">
            <a:avLst>
              <a:gd name="adj" fmla="val 6400"/>
            </a:avLst>
          </a:prstGeom>
          <a:solidFill>
            <a:srgbClr val="F1F4FA"/>
          </a:solidFill>
          <a:ln w="12700">
            <a:solidFill>
              <a:srgbClr val="F1F4FA">
                <a:alpha val="0"/>
              </a:srgbClr>
            </a:solidFill>
            <a:prstDash val="solid"/>
          </a:ln>
        </p:spPr>
      </p:sp>
      <p:sp>
        <p:nvSpPr>
          <p:cNvPr id="10" name="Text 8"/>
          <p:cNvSpPr/>
          <p:nvPr/>
        </p:nvSpPr>
        <p:spPr>
          <a:xfrm>
            <a:off x="6464808" y="2944368"/>
            <a:ext cx="4855464" cy="548640"/>
          </a:xfrm>
          <a:prstGeom prst="rect">
            <a:avLst/>
          </a:prstGeom>
          <a:noFill/>
          <a:ln/>
        </p:spPr>
        <p:txBody>
          <a:bodyPr wrap="square" lIns="0" tIns="0" rIns="0" bIns="0" rtlCol="0" anchor="t"/>
          <a:lstStyle/>
          <a:p>
            <a:pPr indent="0" marL="0">
              <a:buNone/>
            </a:pPr>
            <a:r>
              <a:rPr lang="en-US" sz="2200" b="1" dirty="0">
                <a:solidFill>
                  <a:srgbClr val="3348B8"/>
                </a:solidFill>
                <a:latin typeface="Calibri" pitchFamily="34" charset="0"/>
                <a:ea typeface="Calibri" pitchFamily="34" charset="-122"/>
                <a:cs typeface="Calibri" pitchFamily="34" charset="-120"/>
              </a:rPr>
              <a:t>RỦI RO RUBRIC</a:t>
            </a:r>
            <a:endParaRPr lang="en-US" sz="2200" dirty="0"/>
          </a:p>
        </p:txBody>
      </p:sp>
      <p:sp>
        <p:nvSpPr>
          <p:cNvPr id="11" name="Text 9"/>
          <p:cNvSpPr/>
          <p:nvPr/>
        </p:nvSpPr>
        <p:spPr>
          <a:xfrm>
            <a:off x="6464808" y="3611880"/>
            <a:ext cx="4855464" cy="1188720"/>
          </a:xfrm>
          <a:prstGeom prst="rect">
            <a:avLst/>
          </a:prstGeom>
          <a:noFill/>
          <a:ln/>
        </p:spPr>
        <p:txBody>
          <a:bodyPr wrap="square" lIns="0" tIns="0" rIns="0" bIns="0" rtlCol="0" anchor="t"/>
          <a:lstStyle/>
          <a:p>
            <a:pPr indent="0" marL="0">
              <a:buNone/>
            </a:pPr>
            <a:r>
              <a:rPr lang="en-US" sz="1800" dirty="0">
                <a:solidFill>
                  <a:srgbClr val="172033"/>
                </a:solidFill>
                <a:latin typeface="Calibri" pitchFamily="34" charset="0"/>
                <a:ea typeface="Calibri" pitchFamily="34" charset="-122"/>
                <a:cs typeface="Calibri" pitchFamily="34" charset="-120"/>
              </a:rPr>
              <a:t>Cách chấm mục smart contract cho SDK còn cần BTC xác nhận.</a:t>
            </a:r>
            <a:endParaRPr lang="en-US" sz="1800" dirty="0"/>
          </a:p>
          <a:p>
            <a:pPr indent="0" marL="0">
              <a:buNone/>
            </a:pPr>
            <a:r>
              <a:rPr lang="en-US" sz="1800" dirty="0">
                <a:solidFill>
                  <a:srgbClr val="172033"/>
                </a:solidFill>
                <a:latin typeface="Calibri" pitchFamily="34" charset="0"/>
                <a:ea typeface="Calibri" pitchFamily="34" charset="-122"/>
                <a:cs typeface="Calibri" pitchFamily="34" charset="-120"/>
              </a:rPr>
              <a:t>Không khẳng định chắc được tối đa điểm.</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10972800" cy="274320"/>
          </a:xfrm>
          <a:prstGeom prst="rect">
            <a:avLst/>
          </a:prstGeom>
          <a:noFill/>
          <a:ln/>
        </p:spPr>
        <p:txBody>
          <a:bodyPr wrap="square" lIns="0" tIns="0" rIns="0" bIns="0" rtlCol="0" anchor="t"/>
          <a:lstStyle/>
          <a:p>
            <a:pPr indent="0" marL="0">
              <a:buNone/>
            </a:pPr>
            <a:r>
              <a:rPr lang="en-US" sz="1200" b="1" dirty="0">
                <a:solidFill>
                  <a:srgbClr val="3348B8"/>
                </a:solidFill>
                <a:latin typeface="Calibri" pitchFamily="34" charset="0"/>
                <a:ea typeface="Calibri" pitchFamily="34" charset="-122"/>
                <a:cs typeface="Calibri" pitchFamily="34" charset="-120"/>
              </a:rPr>
              <a:t>CUSTOS   /   12 / PHỤ LỤC</a:t>
            </a:r>
            <a:endParaRPr lang="en-US" sz="1200" dirty="0"/>
          </a:p>
        </p:txBody>
      </p:sp>
      <p:sp>
        <p:nvSpPr>
          <p:cNvPr id="3" name="Text 1"/>
          <p:cNvSpPr/>
          <p:nvPr/>
        </p:nvSpPr>
        <p:spPr>
          <a:xfrm>
            <a:off x="594360" y="868680"/>
            <a:ext cx="10972800" cy="1024128"/>
          </a:xfrm>
          <a:prstGeom prst="rect">
            <a:avLst/>
          </a:prstGeom>
          <a:noFill/>
          <a:ln/>
        </p:spPr>
        <p:txBody>
          <a:bodyPr wrap="square" lIns="0" tIns="0" rIns="0" bIns="0" rtlCol="0" anchor="t"/>
          <a:lstStyle/>
          <a:p>
            <a:pPr indent="0" marL="0">
              <a:buNone/>
            </a:pPr>
            <a:r>
              <a:rPr lang="en-US" sz="3400" b="1" dirty="0">
                <a:solidFill>
                  <a:srgbClr val="172033"/>
                </a:solidFill>
                <a:latin typeface="Calibri" pitchFamily="34" charset="0"/>
                <a:ea typeface="Calibri" pitchFamily="34" charset="-122"/>
                <a:cs typeface="Calibri" pitchFamily="34" charset="-120"/>
              </a:rPr>
              <a:t>Kinh doanh là giả thuyết, chưa được xác nhận.</a:t>
            </a:r>
            <a:endParaRPr lang="en-US" sz="3400" dirty="0"/>
          </a:p>
        </p:txBody>
      </p:sp>
      <p:sp>
        <p:nvSpPr>
          <p:cNvPr id="4" name="Text 2"/>
          <p:cNvSpPr/>
          <p:nvPr/>
        </p:nvSpPr>
        <p:spPr>
          <a:xfrm>
            <a:off x="594360" y="1856232"/>
            <a:ext cx="10972800" cy="594360"/>
          </a:xfrm>
          <a:prstGeom prst="rect">
            <a:avLst/>
          </a:prstGeom>
          <a:noFill/>
          <a:ln/>
        </p:spPr>
        <p:txBody>
          <a:bodyPr wrap="square" lIns="0" tIns="0" rIns="0" bIns="0" rtlCol="0" anchor="t"/>
          <a:lstStyle/>
          <a:p>
            <a:pPr indent="0" marL="0">
              <a:buNone/>
            </a:pPr>
            <a:r>
              <a:rPr lang="en-US" sz="1800" dirty="0">
                <a:solidFill>
                  <a:srgbClr val="536079"/>
                </a:solidFill>
                <a:latin typeface="Calibri" pitchFamily="34" charset="0"/>
                <a:ea typeface="Calibri" pitchFamily="34" charset="-122"/>
                <a:cs typeface="Calibri" pitchFamily="34" charset="-120"/>
              </a:rPr>
              <a:t>Tài liệu dự phòng từ hướng Product &amp; Business; không thuộc mạch Technical chính.</a:t>
            </a:r>
            <a:endParaRPr lang="en-US" sz="1800" dirty="0"/>
          </a:p>
        </p:txBody>
      </p:sp>
      <p:sp>
        <p:nvSpPr>
          <p:cNvPr id="5" name="Text 3"/>
          <p:cNvSpPr/>
          <p:nvPr/>
        </p:nvSpPr>
        <p:spPr>
          <a:xfrm>
            <a:off x="594360" y="6245352"/>
            <a:ext cx="10881360" cy="347472"/>
          </a:xfrm>
          <a:prstGeom prst="rect">
            <a:avLst/>
          </a:prstGeom>
          <a:noFill/>
          <a:ln/>
        </p:spPr>
        <p:txBody>
          <a:bodyPr wrap="square" lIns="0" tIns="0" rIns="0" bIns="0" rtlCol="0" anchor="t"/>
          <a:lstStyle/>
          <a:p>
            <a:pPr indent="0" marL="0">
              <a:buNone/>
            </a:pPr>
            <a:r>
              <a:rPr lang="en-US" sz="1000" dirty="0">
                <a:solidFill>
                  <a:srgbClr val="536079"/>
                </a:solidFill>
                <a:latin typeface="Calibri" pitchFamily="34" charset="0"/>
                <a:ea typeface="Calibri" pitchFamily="34" charset="-122"/>
                <a:cs typeface="Calibri" pitchFamily="34" charset="-120"/>
              </a:rPr>
              <a:t>Nguồn: docs/MO-HINH-DOANH-THU.md · không phải traction</a:t>
            </a:r>
            <a:endParaRPr lang="en-US" sz="1000" dirty="0"/>
          </a:p>
        </p:txBody>
      </p:sp>
      <p:sp>
        <p:nvSpPr>
          <p:cNvPr id="6" name="Shape 4"/>
          <p:cNvSpPr/>
          <p:nvPr/>
        </p:nvSpPr>
        <p:spPr>
          <a:xfrm>
            <a:off x="640080" y="2743200"/>
            <a:ext cx="5257800" cy="2286000"/>
          </a:xfrm>
          <a:prstGeom prst="roundRect">
            <a:avLst>
              <a:gd name="adj" fmla="val 6400"/>
            </a:avLst>
          </a:prstGeom>
          <a:solidFill>
            <a:srgbClr val="F1F4FA"/>
          </a:solidFill>
          <a:ln w="12700">
            <a:solidFill>
              <a:srgbClr val="F1F4FA">
                <a:alpha val="0"/>
              </a:srgbClr>
            </a:solidFill>
            <a:prstDash val="solid"/>
          </a:ln>
        </p:spPr>
      </p:sp>
      <p:sp>
        <p:nvSpPr>
          <p:cNvPr id="7" name="Text 5"/>
          <p:cNvSpPr/>
          <p:nvPr/>
        </p:nvSpPr>
        <p:spPr>
          <a:xfrm>
            <a:off x="841248" y="2944368"/>
            <a:ext cx="4855464" cy="548640"/>
          </a:xfrm>
          <a:prstGeom prst="rect">
            <a:avLst/>
          </a:prstGeom>
          <a:noFill/>
          <a:ln/>
        </p:spPr>
        <p:txBody>
          <a:bodyPr wrap="square" lIns="0" tIns="0" rIns="0" bIns="0" rtlCol="0" anchor="t"/>
          <a:lstStyle/>
          <a:p>
            <a:pPr indent="0" marL="0">
              <a:buNone/>
            </a:pPr>
            <a:r>
              <a:rPr lang="en-US" sz="2200" b="1" dirty="0">
                <a:solidFill>
                  <a:srgbClr val="3348B8"/>
                </a:solidFill>
                <a:latin typeface="Calibri" pitchFamily="34" charset="0"/>
                <a:ea typeface="Calibri" pitchFamily="34" charset="-122"/>
                <a:cs typeface="Calibri" pitchFamily="34" charset="-120"/>
              </a:rPr>
              <a:t>CORE MIỄN PHÍ</a:t>
            </a:r>
            <a:endParaRPr lang="en-US" sz="2200" dirty="0"/>
          </a:p>
        </p:txBody>
      </p:sp>
      <p:sp>
        <p:nvSpPr>
          <p:cNvPr id="8" name="Text 6"/>
          <p:cNvSpPr/>
          <p:nvPr/>
        </p:nvSpPr>
        <p:spPr>
          <a:xfrm>
            <a:off x="841248" y="3611880"/>
            <a:ext cx="4855464" cy="1188720"/>
          </a:xfrm>
          <a:prstGeom prst="rect">
            <a:avLst/>
          </a:prstGeom>
          <a:noFill/>
          <a:ln/>
        </p:spPr>
        <p:txBody>
          <a:bodyPr wrap="square" lIns="0" tIns="0" rIns="0" bIns="0" rtlCol="0" anchor="t"/>
          <a:lstStyle/>
          <a:p>
            <a:pPr indent="0" marL="0">
              <a:buNone/>
            </a:pPr>
            <a:r>
              <a:rPr lang="en-US" sz="1800" dirty="0">
                <a:solidFill>
                  <a:srgbClr val="172033"/>
                </a:solidFill>
                <a:latin typeface="Calibri" pitchFamily="34" charset="0"/>
                <a:ea typeface="Calibri" pitchFamily="34" charset="-122"/>
                <a:cs typeface="Calibri" pitchFamily="34" charset="-120"/>
              </a:rPr>
              <a:t>Mã nguồn mở; dịch vụ hỗ trợ/tích hợp có thể là hướng khảo sát.</a:t>
            </a:r>
            <a:endParaRPr lang="en-US" sz="1800" dirty="0"/>
          </a:p>
        </p:txBody>
      </p:sp>
      <p:sp>
        <p:nvSpPr>
          <p:cNvPr id="9" name="Shape 7"/>
          <p:cNvSpPr/>
          <p:nvPr/>
        </p:nvSpPr>
        <p:spPr>
          <a:xfrm>
            <a:off x="6263640" y="2743200"/>
            <a:ext cx="5257800" cy="2286000"/>
          </a:xfrm>
          <a:prstGeom prst="roundRect">
            <a:avLst>
              <a:gd name="adj" fmla="val 6400"/>
            </a:avLst>
          </a:prstGeom>
          <a:solidFill>
            <a:srgbClr val="F1F4FA"/>
          </a:solidFill>
          <a:ln w="12700">
            <a:solidFill>
              <a:srgbClr val="F1F4FA">
                <a:alpha val="0"/>
              </a:srgbClr>
            </a:solidFill>
            <a:prstDash val="solid"/>
          </a:ln>
        </p:spPr>
      </p:sp>
      <p:sp>
        <p:nvSpPr>
          <p:cNvPr id="10" name="Text 8"/>
          <p:cNvSpPr/>
          <p:nvPr/>
        </p:nvSpPr>
        <p:spPr>
          <a:xfrm>
            <a:off x="6464808" y="2944368"/>
            <a:ext cx="4855464" cy="548640"/>
          </a:xfrm>
          <a:prstGeom prst="rect">
            <a:avLst/>
          </a:prstGeom>
          <a:noFill/>
          <a:ln/>
        </p:spPr>
        <p:txBody>
          <a:bodyPr wrap="square" lIns="0" tIns="0" rIns="0" bIns="0" rtlCol="0" anchor="t"/>
          <a:lstStyle/>
          <a:p>
            <a:pPr indent="0" marL="0">
              <a:buNone/>
            </a:pPr>
            <a:r>
              <a:rPr lang="en-US" sz="2200" b="1" dirty="0">
                <a:solidFill>
                  <a:srgbClr val="B52046"/>
                </a:solidFill>
                <a:latin typeface="Calibri" pitchFamily="34" charset="0"/>
                <a:ea typeface="Calibri" pitchFamily="34" charset="-122"/>
                <a:cs typeface="Calibri" pitchFamily="34" charset="-120"/>
              </a:rPr>
              <a:t>GIẢ ĐỊNH</a:t>
            </a:r>
            <a:endParaRPr lang="en-US" sz="2200" dirty="0"/>
          </a:p>
        </p:txBody>
      </p:sp>
      <p:sp>
        <p:nvSpPr>
          <p:cNvPr id="11" name="Text 9"/>
          <p:cNvSpPr/>
          <p:nvPr/>
        </p:nvSpPr>
        <p:spPr>
          <a:xfrm>
            <a:off x="6464808" y="3611880"/>
            <a:ext cx="4855464" cy="1188720"/>
          </a:xfrm>
          <a:prstGeom prst="rect">
            <a:avLst/>
          </a:prstGeom>
          <a:noFill/>
          <a:ln/>
        </p:spPr>
        <p:txBody>
          <a:bodyPr wrap="square" lIns="0" tIns="0" rIns="0" bIns="0" rtlCol="0" anchor="t"/>
          <a:lstStyle/>
          <a:p>
            <a:pPr indent="0" marL="0">
              <a:buNone/>
            </a:pPr>
            <a:r>
              <a:rPr lang="en-US" sz="1800" dirty="0">
                <a:solidFill>
                  <a:srgbClr val="172033"/>
                </a:solidFill>
                <a:latin typeface="Calibri" pitchFamily="34" charset="0"/>
                <a:ea typeface="Calibri" pitchFamily="34" charset="-122"/>
                <a:cs typeface="Calibri" pitchFamily="34" charset="-120"/>
              </a:rPr>
              <a:t>Chưa hỏi người mua nào.</a:t>
            </a:r>
            <a:endParaRPr lang="en-US" sz="1800" dirty="0"/>
          </a:p>
          <a:p>
            <a:pPr indent="0" marL="0">
              <a:buNone/>
            </a:pPr>
            <a:r>
              <a:rPr lang="en-US" sz="1800" dirty="0">
                <a:solidFill>
                  <a:srgbClr val="172033"/>
                </a:solidFill>
                <a:latin typeface="Calibri" pitchFamily="34" charset="0"/>
                <a:ea typeface="Calibri" pitchFamily="34" charset="-122"/>
                <a:cs typeface="Calibri" pitchFamily="34" charset="-120"/>
              </a:rPr>
              <a:t>Chưa có giá hoặc nhu cầu trả tiền được xác nhận.</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Custos — Technical Build</dc:title>
  <dc:subject>SDK phân tích giao dịch Solana trước ký</dc:subject>
  <dc:creator>Đội Too Hard</dc:creator>
  <cp:lastModifiedBy>Đội Too Hard</cp:lastModifiedBy>
  <cp:revision>1</cp:revision>
  <dcterms:created xsi:type="dcterms:W3CDTF">2026-09-17T19:50:49Z</dcterms:created>
  <dcterms:modified xsi:type="dcterms:W3CDTF">2026-09-17T19:50:49Z</dcterms:modified>
</cp:coreProperties>
</file>