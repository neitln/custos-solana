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Không đọc slide. Nói thẳng: “Custos là lớp kiểm tra giao dịch Solana. Nó nói ra hậu quả trước khi bạn ký.” Rồi sang slide sau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0:00–0:25 — Chỉ vào cột trái, im 2 giây cho giám khảo tự đọc mớ base58. KHÔNG dùng chữ “Web3”. Một câu mẹ bạn hiểu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0:25–0:55 — BẢN LỀ, nói chậm.
[!] PHẢI NÓI THÊM nếu bị hỏi: lỗi Coinspect đó ĐÃ ĐƯỢC VÁ. Luận điểm là về CẤU TRÚC — ví cần phương án dự phòng khi mô phỏng thất bại — KHÔNG phải cáo buộc Phantom đang có lỗ hổng. Nói sai chỗ này là mất điểm liêm chính.
[!] Nói “Blowfish — công ty Phantom đã mua” ở THÌ QUÁ KHỨ.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0:55–2:15 — Chuyển sang trình duyệt. Nhịp 1 mất tiền, im 2 giây. Nhịp 2 cùng giao dịch đó.
CHỈ TAY vào dòng coverage và nói: “nó tự khai phần nó chưa hiểu”.
[!] ĐỌC ĐÚNG con số đang hiện trên màn hình. KHÔNG nói “10/11” — con số đó đã bị gỡ khỏi toàn bộ tài liệu.
Nếu demo chết: nói ngay “phần demo gặp sự cố, nhờ BTC chiếu video dự phòng” — đội KHÔNG mất lượt.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2:15–2:25 — 5–7 giây thôi. Một câu: “Một lần gọi để thêm lớp này vào ví hoặc dApp.”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2:25–2:50 — MỞ BẰNG câu Phantom mua Blowfish rồi đóng dịch vụ bán rời. Đây là market validation do người khác trả tiền chứng minh.
Chuẩn bị câu hỏi ngược “Phantom có rồi sao còn cần các em?” — trả lời ở PITCH mục 3 câu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2:50–3:10 — Con số 6,5 là TRUNG VỊ đo trên 20 giao dịch công khai ĐÃ LƯU OFFLINE — không phải runtime. [!] KHÔNG nói “mainnet” trên sân khấu: demo chạy hoàn toàn trên Devnet, và nhãn devnet-only nằm ngay trong README.
[!] KHÔNG nói một tỉ lệ biên lợi nhuận cụ thể. Bảng credit ĐÃ tra (docs/DON-VI-KINH-TE.md — Helius, mọi phương thức Custos dùng đều 1 credit). Nhưng vẫn chưa đo token thật và chưa có giá bán của Custos — hai ô trống thì không ra được tỉ lệ. Nói “biên gộp 90%” là bịa.
[!] $49 là giá của NGƯỜI KHÁC, không phải giá của Custos.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3:10–3:30 — Câu “AI không được xác nhận an toàn” là câu ghi điểm với giám khảo bảo mật. Nói NGUYÊN VĂN.
Nếu bị hỏi AI có tham gia quyết verdict không: KHÔNG. level chỉ do engine luật tạo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3:30–3:55 — Đọc đúng số, không làm tròn lên.
DÒNG CUỐI CÙNG LÀ DÒNG QUAN TRỌNG NHẤT SLIDE NÀY: tự nói ra chỗ còn thiếu. Thừa nhận trước thì mất một chút; để giám khảo moi ra thì mất nhiều hơn.
SỐ NGƯỜI DÙNG — nói kèm ĐÚNG ba mệnh đề này, đừng bỏ mệnh đề nào:
  · 13/20 nêu được hậu quả. "Một phần" (5) KHÔNG gộp vào.
  · 4/20 vẫn ký — nhưng 2 trong số đó HIỂU ĐÚNG và cố ý chấp nhận rủi ro trên ví phụ. Chỉ 2 người ký vì đọc nhầm.
  · Đo ngày 29/08 và 30/08/2026 trên bản giao diện LÚC ĐÓ; tấm cảnh báo đã được thiết kế lại sau đó. ĐỪNG nói "đo trên đúng màn hình các anh chị vừa xem".
[!] Hỏi qua tin nhắn và video call, một người hỏi cả 20 — không có chấm chéo. Nói ra nếu bị hỏi về phương pháp.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3:55–4:00 — Một câu, dừng. Đừng cảm ơn dài dòng, để dành thời gian cho Q&amp;A.
Các câu hỏi khó có sẵn câu trả lời ở PITCH-VA-PHAN-BIEN.md mục 3, 4 và 4b. Câu build-vs-buy (số 10) quan trọng ngang câu 1 ở track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1874520"/>
            <a:ext cx="10820095" cy="1143000"/>
          </a:xfrm>
          <a:prstGeom prst="rect">
            <a:avLst/>
          </a:prstGeom>
          <a:noFill/>
          <a:ln/>
        </p:spPr>
        <p:txBody>
          <a:bodyPr wrap="square" lIns="0" tIns="0" rIns="0" bIns="0" rtlCol="0" anchor="b"/>
          <a:lstStyle/>
          <a:p>
            <a:pPr indent="0" marL="0">
              <a:buNone/>
            </a:pPr>
            <a:r>
              <a:rPr lang="en-US" sz="6400" b="1" dirty="0">
                <a:solidFill>
                  <a:srgbClr val="14181F"/>
                </a:solidFill>
                <a:latin typeface="Trebuchet MS" pitchFamily="34" charset="0"/>
                <a:ea typeface="Trebuchet MS" pitchFamily="34" charset="-122"/>
                <a:cs typeface="Trebuchet MS" pitchFamily="34" charset="-120"/>
              </a:rPr>
              <a:t>Custos</a:t>
            </a:r>
            <a:endParaRPr lang="en-US" sz="6400" dirty="0"/>
          </a:p>
        </p:txBody>
      </p:sp>
      <p:sp>
        <p:nvSpPr>
          <p:cNvPr id="4" name="Text 2"/>
          <p:cNvSpPr/>
          <p:nvPr/>
        </p:nvSpPr>
        <p:spPr>
          <a:xfrm>
            <a:off x="685800" y="3127248"/>
            <a:ext cx="8778240" cy="457200"/>
          </a:xfrm>
          <a:prstGeom prst="rect">
            <a:avLst/>
          </a:prstGeom>
          <a:noFill/>
          <a:ln/>
        </p:spPr>
        <p:txBody>
          <a:bodyPr wrap="square" lIns="0" tIns="0" rIns="0" bIns="0" rtlCol="0" anchor="ctr"/>
          <a:lstStyle/>
          <a:p>
            <a:pPr indent="0" marL="0">
              <a:buNone/>
            </a:pPr>
            <a:r>
              <a:rPr lang="en-US" sz="1900" dirty="0">
                <a:solidFill>
                  <a:srgbClr val="B45309"/>
                </a:solidFill>
                <a:latin typeface="Calibri" pitchFamily="34" charset="0"/>
                <a:ea typeface="Calibri" pitchFamily="34" charset="-122"/>
                <a:cs typeface="Calibri" pitchFamily="34" charset="-120"/>
              </a:rPr>
              <a:t>Lớp kiểm tra giao dịch Solana — nói ra hậu quả trước khi bạn ký</a:t>
            </a:r>
            <a:endParaRPr lang="en-US" sz="1900" dirty="0"/>
          </a:p>
        </p:txBody>
      </p:sp>
      <p:sp>
        <p:nvSpPr>
          <p:cNvPr id="5" name="Text 3"/>
          <p:cNvSpPr/>
          <p:nvPr/>
        </p:nvSpPr>
        <p:spPr>
          <a:xfrm>
            <a:off x="685800" y="3703320"/>
            <a:ext cx="8778240" cy="822960"/>
          </a:xfrm>
          <a:prstGeom prst="rect">
            <a:avLst/>
          </a:prstGeom>
          <a:noFill/>
          <a:ln/>
        </p:spPr>
        <p:txBody>
          <a:bodyPr wrap="square" lIns="0" tIns="0" rIns="0" bIns="0" rtlCol="0" anchor="ctr"/>
          <a:lstStyle/>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Phát hiện những hậu quả KHÔNG thuộc về hành động chính của một giao dịch,</a:t>
            </a:r>
            <a:endParaRPr lang="en-US" sz="1500" dirty="0"/>
          </a:p>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và giải thích bằng tiếng Việt trước khi người dùng ký.</a:t>
            </a:r>
            <a:endParaRPr lang="en-US" sz="1500" dirty="0"/>
          </a:p>
        </p:txBody>
      </p:sp>
      <p:sp>
        <p:nvSpPr>
          <p:cNvPr id="6" name="Text 4"/>
          <p:cNvSpPr/>
          <p:nvPr/>
        </p:nvSpPr>
        <p:spPr>
          <a:xfrm>
            <a:off x="685800" y="5029200"/>
            <a:ext cx="8778240"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UNIHACKFEST 2026  ·  BEST PRODUCT &amp; BUSINESS  ·  AI × WEB3</a:t>
            </a:r>
            <a:endParaRPr lang="en-US" sz="1050" dirty="0"/>
          </a:p>
        </p:txBody>
      </p:sp>
      <p:sp>
        <p:nvSpPr>
          <p:cNvPr id="7" name="Text 5"/>
          <p:cNvSpPr/>
          <p:nvPr/>
        </p:nvSpPr>
        <p:spPr>
          <a:xfrm>
            <a:off x="685800" y="5413248"/>
            <a:ext cx="8778240" cy="320040"/>
          </a:xfrm>
          <a:prstGeom prst="rect">
            <a:avLst/>
          </a:prstGeom>
          <a:noFill/>
          <a:ln/>
        </p:spPr>
        <p:txBody>
          <a:bodyPr wrap="square" lIns="0" tIns="0" rIns="0" bIns="0" rtlCol="0" anchor="ctr"/>
          <a:lstStyle/>
          <a:p>
            <a:pPr indent="0" marL="0">
              <a:buNone/>
            </a:pPr>
            <a:r>
              <a:rPr lang="en-US" sz="1100" dirty="0">
                <a:solidFill>
                  <a:srgbClr val="5E6673"/>
                </a:solidFill>
                <a:latin typeface="Consolas" pitchFamily="34" charset="0"/>
                <a:ea typeface="Consolas" pitchFamily="34" charset="-122"/>
                <a:cs typeface="Consolas" pitchFamily="34" charset="-120"/>
              </a:rPr>
              <a:t>Đội Too Hard  ·  neitln.github.io/Custos-Solana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Người ta ký mà không hiểu mình vừa ký gì</a:t>
            </a:r>
            <a:endParaRPr lang="en-US" sz="3400" dirty="0"/>
          </a:p>
        </p:txBody>
      </p:sp>
      <p:sp>
        <p:nvSpPr>
          <p:cNvPr id="4" name="Shape 2"/>
          <p:cNvSpPr/>
          <p:nvPr/>
        </p:nvSpPr>
        <p:spPr>
          <a:xfrm>
            <a:off x="685800" y="1783080"/>
            <a:ext cx="5158588" cy="3200400"/>
          </a:xfrm>
          <a:prstGeom prst="roundRect">
            <a:avLst>
              <a:gd name="adj" fmla="val 2571"/>
            </a:avLst>
          </a:prstGeom>
          <a:solidFill>
            <a:srgbClr val="FFFFFF"/>
          </a:solidFill>
          <a:ln w="12700">
            <a:solidFill>
              <a:srgbClr val="DCD9D0"/>
            </a:solidFill>
            <a:prstDash val="solid"/>
          </a:ln>
        </p:spPr>
      </p:sp>
      <p:sp>
        <p:nvSpPr>
          <p:cNvPr id="5" name="Text 3"/>
          <p:cNvSpPr/>
          <p:nvPr/>
        </p:nvSpPr>
        <p:spPr>
          <a:xfrm>
            <a:off x="1005840"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VÍ HIỆN TẠI CHO HỌ XEM</a:t>
            </a:r>
            <a:endParaRPr lang="en-US" sz="1050" dirty="0"/>
          </a:p>
        </p:txBody>
      </p:sp>
      <p:sp>
        <p:nvSpPr>
          <p:cNvPr id="6" name="Text 4"/>
          <p:cNvSpPr/>
          <p:nvPr/>
        </p:nvSpPr>
        <p:spPr>
          <a:xfrm>
            <a:off x="1005840" y="2395728"/>
            <a:ext cx="4518508" cy="2331720"/>
          </a:xfrm>
          <a:prstGeom prst="rect">
            <a:avLst/>
          </a:prstGeom>
          <a:noFill/>
          <a:ln/>
        </p:spPr>
        <p:txBody>
          <a:bodyPr wrap="square" lIns="0" tIns="0" rIns="0" bIns="0" rtlCol="0" anchor="ctr"/>
          <a:lstStyle/>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Program: TokenkegQfeZ…VQ5DA</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SetAuthority</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Account #3: CRZa4k…9Wpicz</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Transfer</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Amount: 500000000</a:t>
            </a:r>
            <a:endParaRPr lang="en-US" sz="1300" dirty="0"/>
          </a:p>
        </p:txBody>
      </p:sp>
      <p:sp>
        <p:nvSpPr>
          <p:cNvPr id="7" name="Shape 5"/>
          <p:cNvSpPr/>
          <p:nvPr/>
        </p:nvSpPr>
        <p:spPr>
          <a:xfrm>
            <a:off x="6347308" y="1783080"/>
            <a:ext cx="5158588" cy="3200400"/>
          </a:xfrm>
          <a:prstGeom prst="roundRect">
            <a:avLst>
              <a:gd name="adj" fmla="val 2571"/>
            </a:avLst>
          </a:prstGeom>
          <a:solidFill>
            <a:srgbClr val="FDF3E3"/>
          </a:solidFill>
          <a:ln w="12700">
            <a:solidFill>
              <a:srgbClr val="F5A524"/>
            </a:solidFill>
            <a:prstDash val="solid"/>
          </a:ln>
        </p:spPr>
      </p:sp>
      <p:sp>
        <p:nvSpPr>
          <p:cNvPr id="8" name="Text 6"/>
          <p:cNvSpPr/>
          <p:nvPr/>
        </p:nvSpPr>
        <p:spPr>
          <a:xfrm>
            <a:off x="6667348"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B45309"/>
                </a:solidFill>
                <a:latin typeface="Consolas" pitchFamily="34" charset="0"/>
                <a:ea typeface="Consolas" pitchFamily="34" charset="-122"/>
                <a:cs typeface="Consolas" pitchFamily="34" charset="-120"/>
              </a:rPr>
              <a:t>THỨ HỌ CẦN BIẾT</a:t>
            </a:r>
            <a:endParaRPr lang="en-US" sz="1050" dirty="0"/>
          </a:p>
        </p:txBody>
      </p:sp>
      <p:sp>
        <p:nvSpPr>
          <p:cNvPr id="9" name="Text 7"/>
          <p:cNvSpPr/>
          <p:nvPr/>
        </p:nvSpPr>
        <p:spPr>
          <a:xfrm>
            <a:off x="6667348" y="2468880"/>
            <a:ext cx="4518508" cy="2194560"/>
          </a:xfrm>
          <a:prstGeom prst="rect">
            <a:avLst/>
          </a:prstGeom>
          <a:noFill/>
          <a:ln/>
        </p:spPr>
        <p:txBody>
          <a:bodyPr wrap="square" lIns="0" tIns="0" rIns="0" bIns="0" rtlCol="0" anchor="ctr"/>
          <a:lstStyle/>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Toàn bộ token của bạn sẽ bị chuyển đi,</a:t>
            </a: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và tài khoản sẽ đổi chủ.</a:t>
            </a:r>
            <a:endParaRPr lang="en-US" sz="1900" dirty="0"/>
          </a:p>
          <a:p>
            <a:pPr indent="0" marL="0">
              <a:lnSpc>
                <a:spcPts val="3000"/>
              </a:lnSpc>
              <a:buNone/>
            </a:pP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Sau khi ký, bạn không lấy lại được.</a:t>
            </a:r>
            <a:endParaRPr lang="en-US" sz="1900" dirty="0"/>
          </a:p>
        </p:txBody>
      </p:sp>
      <p:sp>
        <p:nvSpPr>
          <p:cNvPr id="10" name="Text 8"/>
          <p:cNvSpPr/>
          <p:nvPr/>
        </p:nvSpPr>
        <p:spPr>
          <a:xfrm>
            <a:off x="685800" y="52578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Khoảng cách giữa hai cột này là chỗ tiền bị mất.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Chúng em không cạnh tranh ở chỗ ví lớn mạnh</a:t>
            </a:r>
            <a:endParaRPr lang="en-US" sz="3400" dirty="0"/>
          </a:p>
        </p:txBody>
      </p:sp>
      <p:sp>
        <p:nvSpPr>
          <p:cNvPr id="4" name="Shape 2"/>
          <p:cNvSpPr/>
          <p:nvPr/>
        </p:nvSpPr>
        <p:spPr>
          <a:xfrm>
            <a:off x="685800" y="1783080"/>
            <a:ext cx="10820095" cy="1051560"/>
          </a:xfrm>
          <a:prstGeom prst="roundRect">
            <a:avLst>
              <a:gd name="adj" fmla="val 7826"/>
            </a:avLst>
          </a:prstGeom>
          <a:solidFill>
            <a:srgbClr val="FFFFFF"/>
          </a:solidFill>
          <a:ln w="12700">
            <a:solidFill>
              <a:srgbClr val="DCD9D0"/>
            </a:solidFill>
            <a:prstDash val="solid"/>
          </a:ln>
        </p:spPr>
      </p:sp>
      <p:sp>
        <p:nvSpPr>
          <p:cNvPr id="5" name="Text 3"/>
          <p:cNvSpPr/>
          <p:nvPr/>
        </p:nvSpPr>
        <p:spPr>
          <a:xfrm>
            <a:off x="1051560" y="1783080"/>
            <a:ext cx="10088575" cy="1051560"/>
          </a:xfrm>
          <a:prstGeom prst="rect">
            <a:avLst/>
          </a:prstGeom>
          <a:noFill/>
          <a:ln/>
        </p:spPr>
        <p:txBody>
          <a:bodyPr wrap="square" lIns="0" tIns="0" rIns="0" bIns="0" rtlCol="0" anchor="ctr"/>
          <a:lstStyle/>
          <a:p>
            <a:pPr indent="0" marL="0">
              <a:buNone/>
            </a:pPr>
            <a:r>
              <a:rPr lang="en-US" sz="1700" dirty="0">
                <a:solidFill>
                  <a:srgbClr val="525A66"/>
                </a:solidFill>
                <a:latin typeface="Calibri" pitchFamily="34" charset="0"/>
                <a:ea typeface="Calibri" pitchFamily="34" charset="-122"/>
                <a:cs typeface="Calibri" pitchFamily="34" charset="-120"/>
              </a:rPr>
              <a:t>Ví lớn đã có mô phỏng giao dịch. Phantom cảnh báo SetAuthority bất thường.</a:t>
            </a:r>
            <a:endParaRPr lang="en-US" sz="1700" dirty="0"/>
          </a:p>
        </p:txBody>
      </p:sp>
      <p:sp>
        <p:nvSpPr>
          <p:cNvPr id="6" name="Shape 4"/>
          <p:cNvSpPr/>
          <p:nvPr/>
        </p:nvSpPr>
        <p:spPr>
          <a:xfrm>
            <a:off x="685800" y="3035808"/>
            <a:ext cx="10820095" cy="1737360"/>
          </a:xfrm>
          <a:prstGeom prst="roundRect">
            <a:avLst>
              <a:gd name="adj" fmla="val 4737"/>
            </a:avLst>
          </a:prstGeom>
          <a:solidFill>
            <a:srgbClr val="FDF3E3"/>
          </a:solidFill>
          <a:ln w="12700">
            <a:solidFill>
              <a:srgbClr val="F5A524"/>
            </a:solidFill>
            <a:prstDash val="solid"/>
          </a:ln>
        </p:spPr>
      </p:sp>
      <p:sp>
        <p:nvSpPr>
          <p:cNvPr id="7" name="Text 5"/>
          <p:cNvSpPr/>
          <p:nvPr/>
        </p:nvSpPr>
        <p:spPr>
          <a:xfrm>
            <a:off x="1051560" y="3246120"/>
            <a:ext cx="10088575" cy="457200"/>
          </a:xfrm>
          <a:prstGeom prst="rect">
            <a:avLst/>
          </a:prstGeom>
          <a:noFill/>
          <a:ln/>
        </p:spPr>
        <p:txBody>
          <a:bodyPr wrap="square" lIns="0" tIns="0" rIns="0" bIns="0" rtlCol="0" anchor="ctr"/>
          <a:lstStyle/>
          <a:p>
            <a:pPr indent="0" marL="0">
              <a:buNone/>
            </a:pPr>
            <a:r>
              <a:rPr lang="en-US" sz="2300" b="1" dirty="0">
                <a:solidFill>
                  <a:srgbClr val="14181F"/>
                </a:solidFill>
                <a:latin typeface="Trebuchet MS" pitchFamily="34" charset="0"/>
                <a:ea typeface="Trebuchet MS" pitchFamily="34" charset="-122"/>
                <a:cs typeface="Trebuchet MS" pitchFamily="34" charset="-120"/>
              </a:rPr>
              <a:t>Vấn đề là lúc mô phỏng KHÔNG hiểu hết —</a:t>
            </a:r>
            <a:endParaRPr lang="en-US" sz="2300" dirty="0"/>
          </a:p>
        </p:txBody>
      </p:sp>
      <p:sp>
        <p:nvSpPr>
          <p:cNvPr id="8" name="Text 6"/>
          <p:cNvSpPr/>
          <p:nvPr/>
        </p:nvSpPr>
        <p:spPr>
          <a:xfrm>
            <a:off x="1051560" y="3730752"/>
            <a:ext cx="10088575" cy="457200"/>
          </a:xfrm>
          <a:prstGeom prst="rect">
            <a:avLst/>
          </a:prstGeom>
          <a:noFill/>
          <a:ln/>
        </p:spPr>
        <p:txBody>
          <a:bodyPr wrap="square" lIns="0" tIns="0" rIns="0" bIns="0" rtlCol="0" anchor="ctr"/>
          <a:lstStyle/>
          <a:p>
            <a:pPr indent="0" marL="0">
              <a:buNone/>
            </a:pPr>
            <a:r>
              <a:rPr lang="en-US" sz="2300" b="1" dirty="0">
                <a:solidFill>
                  <a:srgbClr val="B45309"/>
                </a:solidFill>
                <a:latin typeface="Trebuchet MS" pitchFamily="34" charset="0"/>
                <a:ea typeface="Trebuchet MS" pitchFamily="34" charset="-122"/>
                <a:cs typeface="Trebuchet MS" pitchFamily="34" charset="-120"/>
              </a:rPr>
              <a:t>Custos nói ra phần đó — đó là chỗ khác biệt.</a:t>
            </a:r>
            <a:endParaRPr lang="en-US" sz="2300" dirty="0"/>
          </a:p>
        </p:txBody>
      </p:sp>
      <p:sp>
        <p:nvSpPr>
          <p:cNvPr id="9" name="Text 7"/>
          <p:cNvSpPr/>
          <p:nvPr/>
        </p:nvSpPr>
        <p:spPr>
          <a:xfrm>
            <a:off x="1051560" y="4224528"/>
            <a:ext cx="10088575" cy="411480"/>
          </a:xfrm>
          <a:prstGeom prst="rect">
            <a:avLst/>
          </a:prstGeom>
          <a:noFill/>
          <a:ln/>
        </p:spPr>
        <p:txBody>
          <a:bodyPr wrap="square" lIns="0" tIns="0" rIns="0" bIns="0" rtlCol="0" anchor="ctr"/>
          <a:lstStyle/>
          <a:p>
            <a:pPr indent="0" marL="0">
              <a:buNone/>
            </a:pPr>
            <a:r>
              <a:rPr lang="en-US" sz="1350" dirty="0">
                <a:solidFill>
                  <a:srgbClr val="525A66"/>
                </a:solidFill>
                <a:latin typeface="Calibri" pitchFamily="34" charset="0"/>
                <a:ea typeface="Calibri" pitchFamily="34" charset="-122"/>
                <a:cs typeface="Calibri" pitchFamily="34" charset="-120"/>
              </a:rPr>
              <a:t>Coinspect từng công bố một ca mô phỏng bỏ lọt lệnh đổi quyền sở hữu; lỗi đó đã được vá. Luận điểm ở đây là cấu trúc, không phải cáo buộc.</a:t>
            </a:r>
            <a:endParaRPr lang="en-US" sz="1350" dirty="0"/>
          </a:p>
        </p:txBody>
      </p:sp>
      <p:sp>
        <p:nvSpPr>
          <p:cNvPr id="10" name="Text 8"/>
          <p:cNvSpPr/>
          <p:nvPr/>
        </p:nvSpPr>
        <p:spPr>
          <a:xfrm>
            <a:off x="685800" y="5074920"/>
            <a:ext cx="10820095"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CUSTOS LUÔN NÓI RA PHẦN NÓ CHƯA HIỂU</a:t>
            </a:r>
            <a:endParaRPr lang="en-US" sz="1050" dirty="0"/>
          </a:p>
        </p:txBody>
      </p:sp>
      <p:sp>
        <p:nvSpPr>
          <p:cNvPr id="11" name="Text 9"/>
          <p:cNvSpPr/>
          <p:nvPr/>
        </p:nvSpPr>
        <p:spPr>
          <a:xfrm>
            <a:off x="685800" y="5413248"/>
            <a:ext cx="10820095" cy="384048"/>
          </a:xfrm>
          <a:prstGeom prst="rect">
            <a:avLst/>
          </a:prstGeom>
          <a:noFill/>
          <a:ln/>
        </p:spPr>
        <p:txBody>
          <a:bodyPr wrap="square" lIns="0" tIns="0" rIns="0" bIns="0" rtlCol="0" anchor="ctr"/>
          <a:lstStyle/>
          <a:p>
            <a:pPr indent="0" marL="0">
              <a:buNone/>
            </a:pPr>
            <a:r>
              <a:rPr lang="en-US" sz="1600" dirty="0">
                <a:solidFill>
                  <a:srgbClr val="14181F"/>
                </a:solidFill>
                <a:latin typeface="Consolas" pitchFamily="34" charset="0"/>
                <a:ea typeface="Consolas" pitchFamily="34" charset="-122"/>
                <a:cs typeface="Consolas" pitchFamily="34" charset="-120"/>
              </a:rPr>
              <a:t>Đã đọc hiểu 2 trên 3 lệnh  ·  1 chương trình chưa xác minh</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E11D48"/>
          </a:solidFill>
          <a:ln/>
        </p:spPr>
      </p:sp>
      <p:sp>
        <p:nvSpPr>
          <p:cNvPr id="3" name="Text 1"/>
          <p:cNvSpPr/>
          <p:nvPr/>
        </p:nvSpPr>
        <p:spPr>
          <a:xfrm>
            <a:off x="685800" y="1371600"/>
            <a:ext cx="10820095" cy="1005840"/>
          </a:xfrm>
          <a:prstGeom prst="rect">
            <a:avLst/>
          </a:prstGeom>
          <a:noFill/>
          <a:ln/>
        </p:spPr>
        <p:txBody>
          <a:bodyPr wrap="square" lIns="0" tIns="0" rIns="0" bIns="0" rtlCol="0" anchor="ctr"/>
          <a:lstStyle/>
          <a:p>
            <a:pPr indent="0" marL="0">
              <a:buNone/>
            </a:pPr>
            <a:r>
              <a:rPr lang="en-US" sz="5400" b="1" spc="300" kern="0" dirty="0">
                <a:solidFill>
                  <a:srgbClr val="14181F"/>
                </a:solidFill>
                <a:latin typeface="Trebuchet MS" pitchFamily="34" charset="0"/>
                <a:ea typeface="Trebuchet MS" pitchFamily="34" charset="-122"/>
                <a:cs typeface="Trebuchet MS" pitchFamily="34" charset="-120"/>
              </a:rPr>
              <a:t>DEMO</a:t>
            </a:r>
            <a:endParaRPr lang="en-US" sz="5400" dirty="0"/>
          </a:p>
        </p:txBody>
      </p:sp>
      <p:sp>
        <p:nvSpPr>
          <p:cNvPr id="4" name="Text 2"/>
          <p:cNvSpPr/>
          <p:nvPr/>
        </p:nvSpPr>
        <p:spPr>
          <a:xfrm>
            <a:off x="685800" y="2377440"/>
            <a:ext cx="10820095" cy="457200"/>
          </a:xfrm>
          <a:prstGeom prst="rect">
            <a:avLst/>
          </a:prstGeom>
          <a:noFill/>
          <a:ln/>
        </p:spPr>
        <p:txBody>
          <a:bodyPr wrap="square" lIns="0" tIns="0" rIns="0" bIns="0" rtlCol="0" anchor="ctr"/>
          <a:lstStyle/>
          <a:p>
            <a:pPr indent="0" marL="0">
              <a:buNone/>
            </a:pPr>
            <a:r>
              <a:rPr lang="en-US" sz="2000" dirty="0">
                <a:solidFill>
                  <a:srgbClr val="BE123C"/>
                </a:solidFill>
                <a:latin typeface="Calibri" pitchFamily="34" charset="0"/>
                <a:ea typeface="Calibri" pitchFamily="34" charset="-122"/>
                <a:cs typeface="Calibri" pitchFamily="34" charset="-120"/>
              </a:rPr>
              <a:t>Cùng một giao dịch, hai kết cục</a:t>
            </a:r>
            <a:endParaRPr lang="en-US" sz="2000" dirty="0"/>
          </a:p>
        </p:txBody>
      </p:sp>
      <p:sp>
        <p:nvSpPr>
          <p:cNvPr id="5" name="Shape 3"/>
          <p:cNvSpPr/>
          <p:nvPr/>
        </p:nvSpPr>
        <p:spPr>
          <a:xfrm>
            <a:off x="685800" y="3200400"/>
            <a:ext cx="420624" cy="420624"/>
          </a:xfrm>
          <a:prstGeom prst="ellipse">
            <a:avLst/>
          </a:prstGeom>
          <a:solidFill>
            <a:srgbClr val="FFFFFF"/>
          </a:solidFill>
          <a:ln w="19050">
            <a:solidFill>
              <a:srgbClr val="E11D48"/>
            </a:solidFill>
            <a:prstDash val="solid"/>
          </a:ln>
        </p:spPr>
      </p:sp>
      <p:sp>
        <p:nvSpPr>
          <p:cNvPr id="6" name="Text 4"/>
          <p:cNvSpPr/>
          <p:nvPr/>
        </p:nvSpPr>
        <p:spPr>
          <a:xfrm>
            <a:off x="685800" y="3200400"/>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1</a:t>
            </a:r>
            <a:endParaRPr lang="en-US" sz="1400" dirty="0"/>
          </a:p>
        </p:txBody>
      </p:sp>
      <p:sp>
        <p:nvSpPr>
          <p:cNvPr id="7" name="Text 5"/>
          <p:cNvSpPr/>
          <p:nvPr/>
        </p:nvSpPr>
        <p:spPr>
          <a:xfrm>
            <a:off x="1344168" y="3200400"/>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Không có Custos — ký xong, số dư về 0 và tài khoản đổi chủ</a:t>
            </a:r>
            <a:endParaRPr lang="en-US" sz="1650" dirty="0"/>
          </a:p>
        </p:txBody>
      </p:sp>
      <p:sp>
        <p:nvSpPr>
          <p:cNvPr id="8" name="Shape 6"/>
          <p:cNvSpPr/>
          <p:nvPr/>
        </p:nvSpPr>
        <p:spPr>
          <a:xfrm>
            <a:off x="685800" y="4041648"/>
            <a:ext cx="420624" cy="420624"/>
          </a:xfrm>
          <a:prstGeom prst="ellipse">
            <a:avLst/>
          </a:prstGeom>
          <a:solidFill>
            <a:srgbClr val="FFFFFF"/>
          </a:solidFill>
          <a:ln w="19050">
            <a:solidFill>
              <a:srgbClr val="E11D48"/>
            </a:solidFill>
            <a:prstDash val="solid"/>
          </a:ln>
        </p:spPr>
      </p:sp>
      <p:sp>
        <p:nvSpPr>
          <p:cNvPr id="9" name="Text 7"/>
          <p:cNvSpPr/>
          <p:nvPr/>
        </p:nvSpPr>
        <p:spPr>
          <a:xfrm>
            <a:off x="685800" y="4041648"/>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2</a:t>
            </a:r>
            <a:endParaRPr lang="en-US" sz="1400" dirty="0"/>
          </a:p>
        </p:txBody>
      </p:sp>
      <p:sp>
        <p:nvSpPr>
          <p:cNvPr id="10" name="Text 8"/>
          <p:cNvSpPr/>
          <p:nvPr/>
        </p:nvSpPr>
        <p:spPr>
          <a:xfrm>
            <a:off x="1344168" y="4041648"/>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Cùng giao dịch đó, có Custos — hậu quả hiện ra trước khi ký</a:t>
            </a:r>
            <a:endParaRPr lang="en-US" sz="1650" dirty="0"/>
          </a:p>
        </p:txBody>
      </p:sp>
      <p:sp>
        <p:nvSpPr>
          <p:cNvPr id="11" name="Shape 9"/>
          <p:cNvSpPr/>
          <p:nvPr/>
        </p:nvSpPr>
        <p:spPr>
          <a:xfrm>
            <a:off x="685800" y="4882896"/>
            <a:ext cx="420624" cy="420624"/>
          </a:xfrm>
          <a:prstGeom prst="ellipse">
            <a:avLst/>
          </a:prstGeom>
          <a:solidFill>
            <a:srgbClr val="FFFFFF"/>
          </a:solidFill>
          <a:ln w="19050">
            <a:solidFill>
              <a:srgbClr val="E11D48"/>
            </a:solidFill>
            <a:prstDash val="solid"/>
          </a:ln>
        </p:spPr>
      </p:sp>
      <p:sp>
        <p:nvSpPr>
          <p:cNvPr id="12" name="Text 10"/>
          <p:cNvSpPr/>
          <p:nvPr/>
        </p:nvSpPr>
        <p:spPr>
          <a:xfrm>
            <a:off x="685800" y="4882896"/>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3</a:t>
            </a:r>
            <a:endParaRPr lang="en-US" sz="1400" dirty="0"/>
          </a:p>
        </p:txBody>
      </p:sp>
      <p:sp>
        <p:nvSpPr>
          <p:cNvPr id="13" name="Text 11"/>
          <p:cNvSpPr/>
          <p:nvPr/>
        </p:nvSpPr>
        <p:spPr>
          <a:xfrm>
            <a:off x="1344168" y="4882896"/>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Dòng “đã đọc hiểu 2 trên 3 lệnh” — nó tự khai phần nó chưa hiểu</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tích hợp: một lần gọi</a:t>
            </a:r>
            <a:endParaRPr lang="en-US" sz="3400" dirty="0"/>
          </a:p>
        </p:txBody>
      </p:sp>
      <p:sp>
        <p:nvSpPr>
          <p:cNvPr id="4" name="Shape 2"/>
          <p:cNvSpPr/>
          <p:nvPr/>
        </p:nvSpPr>
        <p:spPr>
          <a:xfrm>
            <a:off x="685800" y="1874520"/>
            <a:ext cx="10820095" cy="2286000"/>
          </a:xfrm>
          <a:prstGeom prst="roundRect">
            <a:avLst>
              <a:gd name="adj" fmla="val 3600"/>
            </a:avLst>
          </a:prstGeom>
          <a:solidFill>
            <a:srgbClr val="12161F"/>
          </a:solidFill>
          <a:ln w="12700">
            <a:solidFill>
              <a:srgbClr val="12161F"/>
            </a:solidFill>
            <a:prstDash val="solid"/>
          </a:ln>
        </p:spPr>
      </p:sp>
      <p:sp>
        <p:nvSpPr>
          <p:cNvPr id="5" name="Text 3"/>
          <p:cNvSpPr/>
          <p:nvPr/>
        </p:nvSpPr>
        <p:spPr>
          <a:xfrm>
            <a:off x="1097280" y="2084832"/>
            <a:ext cx="9997135" cy="1874520"/>
          </a:xfrm>
          <a:prstGeom prst="rect">
            <a:avLst/>
          </a:prstGeom>
          <a:noFill/>
          <a:ln/>
        </p:spPr>
        <p:txBody>
          <a:bodyPr wrap="square" lIns="0" tIns="0" rIns="0" bIns="0" rtlCol="0" anchor="ctr"/>
          <a:lstStyle/>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const ketQua = await inspect(</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connection, interpret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transaction,          // CHƯA ký</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locale: "vi"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a:t>
            </a:r>
            <a:endParaRPr lang="en-US" sz="1500" dirty="0"/>
          </a:p>
        </p:txBody>
      </p:sp>
      <p:sp>
        <p:nvSpPr>
          <p:cNvPr id="6" name="Text 4"/>
          <p:cNvSpPr/>
          <p:nvPr/>
        </p:nvSpPr>
        <p:spPr>
          <a:xfrm>
            <a:off x="685800" y="443484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Custos không hiển thị gì cả. Nó trả dữ liệu — ví toàn quyền quyết định giao diện.</a:t>
            </a:r>
            <a:endParaRPr lang="en-US" sz="1700" dirty="0"/>
          </a:p>
        </p:txBody>
      </p:sp>
      <p:sp>
        <p:nvSpPr>
          <p:cNvPr id="7" name="Text 5"/>
          <p:cNvSpPr/>
          <p:nvPr/>
        </p:nvSpPr>
        <p:spPr>
          <a:xfrm>
            <a:off x="685800" y="4919472"/>
            <a:ext cx="10820095" cy="411480"/>
          </a:xfrm>
          <a:prstGeom prst="rect">
            <a:avLst/>
          </a:prstGeom>
          <a:noFill/>
          <a:ln/>
        </p:spPr>
        <p:txBody>
          <a:bodyPr wrap="square" lIns="0" tIns="0" rIns="0" bIns="0" rtlCol="0" anchor="ctr"/>
          <a:lstStyle/>
          <a:p>
            <a:pPr indent="0" marL="0">
              <a:buNone/>
            </a:pPr>
            <a:r>
              <a:rPr lang="en-US" sz="1500" dirty="0">
                <a:solidFill>
                  <a:srgbClr val="525A66"/>
                </a:solidFill>
                <a:latin typeface="Calibri" pitchFamily="34" charset="0"/>
                <a:ea typeface="Calibri" pitchFamily="34" charset="-122"/>
                <a:cs typeface="Calibri" pitchFamily="34" charset="-120"/>
              </a:rPr>
              <a:t>Không smart contract. Không ghi gì lên chain. Không giữ tài sản của ai.</a:t>
            </a:r>
            <a:endParaRPr lang="en-US" sz="1500" dirty="0"/>
          </a:p>
        </p:txBody>
      </p:sp>
      <p:sp>
        <p:nvSpPr>
          <p:cNvPr id="8" name="Text 6"/>
          <p:cNvSpPr/>
          <p:nvPr/>
        </p:nvSpPr>
        <p:spPr>
          <a:xfrm>
            <a:off x="685800" y="5413248"/>
            <a:ext cx="10820095"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MỘT LỚP BẢO MẬT MÀ BẢN THÂN NÓ THÀNH MỤC TIÊU TẤN CÔNG THÌ HỎNG</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Thị trường này đã được chứng minh hộ</a:t>
            </a:r>
            <a:endParaRPr lang="en-US" sz="3400" dirty="0"/>
          </a:p>
        </p:txBody>
      </p:sp>
      <p:sp>
        <p:nvSpPr>
          <p:cNvPr id="4" name="Shape 2"/>
          <p:cNvSpPr/>
          <p:nvPr/>
        </p:nvSpPr>
        <p:spPr>
          <a:xfrm>
            <a:off x="685800" y="1874520"/>
            <a:ext cx="3271418" cy="2148840"/>
          </a:xfrm>
          <a:prstGeom prst="roundRect">
            <a:avLst>
              <a:gd name="adj" fmla="val 3830"/>
            </a:avLst>
          </a:prstGeom>
          <a:solidFill>
            <a:srgbClr val="FFFFFF"/>
          </a:solidFill>
          <a:ln w="12700">
            <a:solidFill>
              <a:srgbClr val="DCD9D0"/>
            </a:solidFill>
            <a:prstDash val="solid"/>
          </a:ln>
        </p:spPr>
      </p:sp>
      <p:sp>
        <p:nvSpPr>
          <p:cNvPr id="5" name="Text 3"/>
          <p:cNvSpPr/>
          <p:nvPr/>
        </p:nvSpPr>
        <p:spPr>
          <a:xfrm>
            <a:off x="960120" y="2084832"/>
            <a:ext cx="2722778" cy="411480"/>
          </a:xfrm>
          <a:prstGeom prst="rect">
            <a:avLst/>
          </a:prstGeom>
          <a:noFill/>
          <a:ln/>
        </p:spPr>
        <p:txBody>
          <a:bodyPr wrap="square" lIns="0" tIns="0" rIns="0" bIns="0" rtlCol="0" anchor="ctr"/>
          <a:lstStyle/>
          <a:p>
            <a:pPr indent="0" marL="0">
              <a:buNone/>
            </a:pPr>
            <a:r>
              <a:rPr lang="en-US" sz="1500" b="1" spc="150" kern="0" dirty="0">
                <a:solidFill>
                  <a:srgbClr val="525A66"/>
                </a:solidFill>
                <a:latin typeface="Consolas" pitchFamily="34" charset="0"/>
                <a:ea typeface="Consolas" pitchFamily="34" charset="-122"/>
                <a:cs typeface="Consolas" pitchFamily="34" charset="-120"/>
              </a:rPr>
              <a:t>2024</a:t>
            </a:r>
            <a:endParaRPr lang="en-US" sz="1500" dirty="0"/>
          </a:p>
        </p:txBody>
      </p:sp>
      <p:sp>
        <p:nvSpPr>
          <p:cNvPr id="6" name="Text 4"/>
          <p:cNvSpPr/>
          <p:nvPr/>
        </p:nvSpPr>
        <p:spPr>
          <a:xfrm>
            <a:off x="960120"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Phantom — ví lớn nhất Solana — mua đứt Blowfish</a:t>
            </a:r>
            <a:endParaRPr lang="en-US" sz="1500" dirty="0"/>
          </a:p>
        </p:txBody>
      </p:sp>
      <p:sp>
        <p:nvSpPr>
          <p:cNvPr id="7" name="Shape 5"/>
          <p:cNvSpPr/>
          <p:nvPr/>
        </p:nvSpPr>
        <p:spPr>
          <a:xfrm>
            <a:off x="4460138" y="1874520"/>
            <a:ext cx="3271418" cy="2148840"/>
          </a:xfrm>
          <a:prstGeom prst="roundRect">
            <a:avLst>
              <a:gd name="adj" fmla="val 3830"/>
            </a:avLst>
          </a:prstGeom>
          <a:solidFill>
            <a:srgbClr val="FFFFFF"/>
          </a:solidFill>
          <a:ln w="12700">
            <a:solidFill>
              <a:srgbClr val="DCD9D0"/>
            </a:solidFill>
            <a:prstDash val="solid"/>
          </a:ln>
        </p:spPr>
      </p:sp>
      <p:sp>
        <p:nvSpPr>
          <p:cNvPr id="8" name="Text 6"/>
          <p:cNvSpPr/>
          <p:nvPr/>
        </p:nvSpPr>
        <p:spPr>
          <a:xfrm>
            <a:off x="4734458" y="2084832"/>
            <a:ext cx="2722778" cy="411480"/>
          </a:xfrm>
          <a:prstGeom prst="rect">
            <a:avLst/>
          </a:prstGeom>
          <a:noFill/>
          <a:ln/>
        </p:spPr>
        <p:txBody>
          <a:bodyPr wrap="square" lIns="0" tIns="0" rIns="0" bIns="0" rtlCol="0" anchor="ctr"/>
          <a:lstStyle/>
          <a:p>
            <a:pPr indent="0" marL="0">
              <a:buNone/>
            </a:pPr>
            <a:r>
              <a:rPr lang="en-US" sz="1500" b="1" spc="150" kern="0" dirty="0">
                <a:solidFill>
                  <a:srgbClr val="BE123C"/>
                </a:solidFill>
                <a:latin typeface="Consolas" pitchFamily="34" charset="0"/>
                <a:ea typeface="Consolas" pitchFamily="34" charset="-122"/>
                <a:cs typeface="Consolas" pitchFamily="34" charset="-120"/>
              </a:rPr>
              <a:t>SUNSET</a:t>
            </a:r>
            <a:endParaRPr lang="en-US" sz="1500" dirty="0"/>
          </a:p>
        </p:txBody>
      </p:sp>
      <p:sp>
        <p:nvSpPr>
          <p:cNvPr id="9" name="Text 7"/>
          <p:cNvSpPr/>
          <p:nvPr/>
        </p:nvSpPr>
        <p:spPr>
          <a:xfrm>
            <a:off x="4734458"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bị đóng. blowfish.xyz nay là tên miền hết hạn</a:t>
            </a:r>
            <a:endParaRPr lang="en-US" sz="1500" dirty="0"/>
          </a:p>
        </p:txBody>
      </p:sp>
      <p:sp>
        <p:nvSpPr>
          <p:cNvPr id="10" name="Shape 8"/>
          <p:cNvSpPr/>
          <p:nvPr/>
        </p:nvSpPr>
        <p:spPr>
          <a:xfrm>
            <a:off x="8234477" y="1874520"/>
            <a:ext cx="3271418" cy="2148840"/>
          </a:xfrm>
          <a:prstGeom prst="roundRect">
            <a:avLst>
              <a:gd name="adj" fmla="val 3830"/>
            </a:avLst>
          </a:prstGeom>
          <a:solidFill>
            <a:srgbClr val="FDF3E3"/>
          </a:solidFill>
          <a:ln w="12700">
            <a:solidFill>
              <a:srgbClr val="F5A524"/>
            </a:solidFill>
            <a:prstDash val="solid"/>
          </a:ln>
        </p:spPr>
      </p:sp>
      <p:sp>
        <p:nvSpPr>
          <p:cNvPr id="11" name="Text 9"/>
          <p:cNvSpPr/>
          <p:nvPr/>
        </p:nvSpPr>
        <p:spPr>
          <a:xfrm>
            <a:off x="8508797" y="2084832"/>
            <a:ext cx="2722778" cy="411480"/>
          </a:xfrm>
          <a:prstGeom prst="rect">
            <a:avLst/>
          </a:prstGeom>
          <a:noFill/>
          <a:ln/>
        </p:spPr>
        <p:txBody>
          <a:bodyPr wrap="square" lIns="0" tIns="0" rIns="0" bIns="0" rtlCol="0" anchor="ctr"/>
          <a:lstStyle/>
          <a:p>
            <a:pPr indent="0" marL="0">
              <a:buNone/>
            </a:pPr>
            <a:r>
              <a:rPr lang="en-US" sz="1500" b="1" spc="150" kern="0" dirty="0">
                <a:solidFill>
                  <a:srgbClr val="B45309"/>
                </a:solidFill>
                <a:latin typeface="Consolas" pitchFamily="34" charset="0"/>
                <a:ea typeface="Consolas" pitchFamily="34" charset="-122"/>
                <a:cs typeface="Consolas" pitchFamily="34" charset="-120"/>
              </a:rPr>
              <a:t>HÔM NAY</a:t>
            </a:r>
            <a:endParaRPr lang="en-US" sz="1500" dirty="0"/>
          </a:p>
        </p:txBody>
      </p:sp>
      <p:sp>
        <p:nvSpPr>
          <p:cNvPr id="12" name="Text 10"/>
          <p:cNvSpPr/>
          <p:nvPr/>
        </p:nvSpPr>
        <p:spPr>
          <a:xfrm>
            <a:off x="8508797"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của Blowfish đã dừng — thị trường có thật, có chỗ trống</a:t>
            </a:r>
            <a:endParaRPr lang="en-US" sz="1500" dirty="0"/>
          </a:p>
        </p:txBody>
      </p:sp>
      <p:sp>
        <p:nvSpPr>
          <p:cNvPr id="13" name="Text 11"/>
          <p:cNvSpPr/>
          <p:nvPr/>
        </p:nvSpPr>
        <p:spPr>
          <a:xfrm>
            <a:off x="685800" y="43434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Đây là market validation do người khác bỏ tiền chứng minh — không phải lập luận đội tự nghĩ.</a:t>
            </a:r>
            <a:endParaRPr lang="en-US" sz="1600" dirty="0"/>
          </a:p>
        </p:txBody>
      </p:sp>
      <p:sp>
        <p:nvSpPr>
          <p:cNvPr id="14" name="Text 12"/>
          <p:cNvSpPr/>
          <p:nvPr/>
        </p:nvSpPr>
        <p:spPr>
          <a:xfrm>
            <a:off x="685800" y="498348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Ai trả tiền:  ví và dApp, không bao giờ là người dùng cuối.</a:t>
            </a:r>
            <a:endParaRPr lang="en-US" sz="1700" dirty="0"/>
          </a:p>
        </p:txBody>
      </p:sp>
      <p:sp>
        <p:nvSpPr>
          <p:cNvPr id="15" name="Text 13"/>
          <p:cNvSpPr/>
          <p:nvPr/>
        </p:nvSpPr>
        <p:spPr>
          <a:xfrm>
            <a:off x="685800" y="5440680"/>
            <a:ext cx="10820095" cy="384048"/>
          </a:xfrm>
          <a:prstGeom prst="rect">
            <a:avLst/>
          </a:prstGeom>
          <a:noFill/>
          <a:ln/>
        </p:spPr>
        <p:txBody>
          <a:bodyPr wrap="square" lIns="0" tIns="0" rIns="0" bIns="0" rtlCol="0" anchor="ctr"/>
          <a:lstStyle/>
          <a:p>
            <a:pPr indent="0" marL="0">
              <a:buNone/>
            </a:pPr>
            <a:r>
              <a:rPr lang="en-US" sz="1400" dirty="0">
                <a:solidFill>
                  <a:srgbClr val="525A66"/>
                </a:solidFill>
                <a:latin typeface="Calibri" pitchFamily="34" charset="0"/>
                <a:ea typeface="Calibri" pitchFamily="34" charset="-122"/>
                <a:cs typeface="Calibri" pitchFamily="34" charset="-120"/>
              </a:rPr>
              <a:t>Developer miễn phí có hạn mức  →  Startup trả theo lượt kiểm tra  →  Enterprise thuê bao kèm SLA</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một lượt kiểm tra: đo được</a:t>
            </a:r>
            <a:endParaRPr lang="en-US" sz="3400" dirty="0"/>
          </a:p>
        </p:txBody>
      </p:sp>
      <p:sp>
        <p:nvSpPr>
          <p:cNvPr id="4" name="Shape 2"/>
          <p:cNvSpPr/>
          <p:nvPr/>
        </p:nvSpPr>
        <p:spPr>
          <a:xfrm>
            <a:off x="685800" y="1874520"/>
            <a:ext cx="5158588" cy="1965960"/>
          </a:xfrm>
          <a:prstGeom prst="roundRect">
            <a:avLst>
              <a:gd name="adj" fmla="val 4186"/>
            </a:avLst>
          </a:prstGeom>
          <a:solidFill>
            <a:srgbClr val="FFFFFF"/>
          </a:solidFill>
          <a:ln w="12700">
            <a:solidFill>
              <a:srgbClr val="047857"/>
            </a:solidFill>
            <a:prstDash val="solid"/>
          </a:ln>
        </p:spPr>
      </p:sp>
      <p:sp>
        <p:nvSpPr>
          <p:cNvPr id="5" name="Text 3"/>
          <p:cNvSpPr/>
          <p:nvPr/>
        </p:nvSpPr>
        <p:spPr>
          <a:xfrm>
            <a:off x="1051560"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6,5</a:t>
            </a:r>
            <a:endParaRPr lang="en-US" sz="5200" dirty="0"/>
          </a:p>
        </p:txBody>
      </p:sp>
      <p:sp>
        <p:nvSpPr>
          <p:cNvPr id="6" name="Text 4"/>
          <p:cNvSpPr/>
          <p:nvPr/>
        </p:nvSpPr>
        <p:spPr>
          <a:xfrm>
            <a:off x="1051560"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lượt gọi RPC mỗi lượt kiểm tra (trung vị)</a:t>
            </a:r>
            <a:endParaRPr lang="en-US" sz="1500" dirty="0"/>
          </a:p>
        </p:txBody>
      </p:sp>
      <p:sp>
        <p:nvSpPr>
          <p:cNvPr id="7" name="Text 5"/>
          <p:cNvSpPr/>
          <p:nvPr/>
        </p:nvSpPr>
        <p:spPr>
          <a:xfrm>
            <a:off x="1051560"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thấp 4 · cao 9 · đo trên 20 giao dịch công khai đã lưu offline</a:t>
            </a:r>
            <a:endParaRPr lang="en-US" sz="1100" dirty="0"/>
          </a:p>
        </p:txBody>
      </p:sp>
      <p:sp>
        <p:nvSpPr>
          <p:cNvPr id="8" name="Shape 6"/>
          <p:cNvSpPr/>
          <p:nvPr/>
        </p:nvSpPr>
        <p:spPr>
          <a:xfrm>
            <a:off x="6347308" y="1874520"/>
            <a:ext cx="5158588" cy="1965960"/>
          </a:xfrm>
          <a:prstGeom prst="roundRect">
            <a:avLst>
              <a:gd name="adj" fmla="val 4186"/>
            </a:avLst>
          </a:prstGeom>
          <a:solidFill>
            <a:srgbClr val="FFFFFF"/>
          </a:solidFill>
          <a:ln w="12700">
            <a:solidFill>
              <a:srgbClr val="047857"/>
            </a:solidFill>
            <a:prstDash val="solid"/>
          </a:ln>
        </p:spPr>
      </p:sp>
      <p:sp>
        <p:nvSpPr>
          <p:cNvPr id="9" name="Text 7"/>
          <p:cNvSpPr/>
          <p:nvPr/>
        </p:nvSpPr>
        <p:spPr>
          <a:xfrm>
            <a:off x="6713068"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400</a:t>
            </a:r>
            <a:endParaRPr lang="en-US" sz="5200" dirty="0"/>
          </a:p>
        </p:txBody>
      </p:sp>
      <p:sp>
        <p:nvSpPr>
          <p:cNvPr id="10" name="Text 8"/>
          <p:cNvSpPr/>
          <p:nvPr/>
        </p:nvSpPr>
        <p:spPr>
          <a:xfrm>
            <a:off x="6713068"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token — TRẦN CỨNG đầu ra của mô hình</a:t>
            </a:r>
            <a:endParaRPr lang="en-US" sz="1500" dirty="0"/>
          </a:p>
        </p:txBody>
      </p:sp>
      <p:sp>
        <p:nvSpPr>
          <p:cNvPr id="11" name="Text 9"/>
          <p:cNvSpPr/>
          <p:nvPr/>
        </p:nvSpPr>
        <p:spPr>
          <a:xfrm>
            <a:off x="6713068"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chi phí AI mỗi lượt có trần, không trôi được</a:t>
            </a:r>
            <a:endParaRPr lang="en-US" sz="1100" dirty="0"/>
          </a:p>
        </p:txBody>
      </p:sp>
      <p:sp>
        <p:nvSpPr>
          <p:cNvPr id="12" name="Shape 10"/>
          <p:cNvSpPr/>
          <p:nvPr/>
        </p:nvSpPr>
        <p:spPr>
          <a:xfrm>
            <a:off x="685800" y="4160520"/>
            <a:ext cx="10820095" cy="960120"/>
          </a:xfrm>
          <a:prstGeom prst="roundRect">
            <a:avLst>
              <a:gd name="adj" fmla="val 8571"/>
            </a:avLst>
          </a:prstGeom>
          <a:solidFill>
            <a:srgbClr val="FFFFFF"/>
          </a:solidFill>
          <a:ln w="12700">
            <a:solidFill>
              <a:srgbClr val="DCD9D0"/>
            </a:solidFill>
            <a:prstDash val="solid"/>
          </a:ln>
        </p:spPr>
      </p:sp>
      <p:sp>
        <p:nvSpPr>
          <p:cNvPr id="13" name="Text 11"/>
          <p:cNvSpPr/>
          <p:nvPr/>
        </p:nvSpPr>
        <p:spPr>
          <a:xfrm>
            <a:off x="1051560" y="4160520"/>
            <a:ext cx="10088575" cy="96012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Neo giá: Helius và QuickNode — hạ tầng chính những khách hàng này đang trả tiền — đều đặt tầng trả tiền đầu tiên ở $49/tháng.</a:t>
            </a:r>
            <a:endParaRPr lang="en-US" sz="15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Chúng em chưa chốt giá của mình, và chưa có cam kết nào từ ví/dApp. Đây là số tham chiếu, không phải validation.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AI làm gì, và tuyệt đối không được làm gì</a:t>
            </a:r>
            <a:endParaRPr lang="en-US" sz="3400" dirty="0"/>
          </a:p>
        </p:txBody>
      </p:sp>
      <p:sp>
        <p:nvSpPr>
          <p:cNvPr id="4" name="Shape 2"/>
          <p:cNvSpPr/>
          <p:nvPr/>
        </p:nvSpPr>
        <p:spPr>
          <a:xfrm>
            <a:off x="685800" y="1874520"/>
            <a:ext cx="10820095" cy="1234440"/>
          </a:xfrm>
          <a:prstGeom prst="roundRect">
            <a:avLst>
              <a:gd name="adj" fmla="val 6667"/>
            </a:avLst>
          </a:prstGeom>
          <a:solidFill>
            <a:srgbClr val="FDF2F4"/>
          </a:solidFill>
          <a:ln w="12700">
            <a:solidFill>
              <a:srgbClr val="E11D48"/>
            </a:solidFill>
            <a:prstDash val="solid"/>
          </a:ln>
        </p:spPr>
      </p:sp>
      <p:sp>
        <p:nvSpPr>
          <p:cNvPr id="5" name="Text 3"/>
          <p:cNvSpPr/>
          <p:nvPr/>
        </p:nvSpPr>
        <p:spPr>
          <a:xfrm>
            <a:off x="1051560" y="1874520"/>
            <a:ext cx="10088575" cy="1234440"/>
          </a:xfrm>
          <a:prstGeom prst="rect">
            <a:avLst/>
          </a:prstGeom>
          <a:noFill/>
          <a:ln/>
        </p:spPr>
        <p:txBody>
          <a:bodyPr wrap="square" lIns="0" tIns="0" rIns="0" bIns="0" rtlCol="0" anchor="ctr"/>
          <a:lstStyle/>
          <a:p>
            <a:pPr indent="0" marL="0">
              <a:buNone/>
            </a:pPr>
            <a:r>
              <a:rPr lang="en-US" sz="2100" b="1" dirty="0">
                <a:solidFill>
                  <a:srgbClr val="14181F"/>
                </a:solidFill>
                <a:latin typeface="Trebuchet MS" pitchFamily="34" charset="0"/>
                <a:ea typeface="Trebuchet MS" pitchFamily="34" charset="-122"/>
                <a:cs typeface="Trebuchet MS" pitchFamily="34" charset="-120"/>
              </a:rPr>
              <a:t>AI không được xác nhận giao dịch an toàn, cũng không được kết luận giao dịch nguy hiểm.</a:t>
            </a:r>
            <a:endParaRPr lang="en-US" sz="2100" dirty="0"/>
          </a:p>
        </p:txBody>
      </p:sp>
      <p:sp>
        <p:nvSpPr>
          <p:cNvPr id="6" name="Shape 4"/>
          <p:cNvSpPr/>
          <p:nvPr/>
        </p:nvSpPr>
        <p:spPr>
          <a:xfrm>
            <a:off x="685800" y="3337560"/>
            <a:ext cx="5158588" cy="1783080"/>
          </a:xfrm>
          <a:prstGeom prst="roundRect">
            <a:avLst>
              <a:gd name="adj" fmla="val 4615"/>
            </a:avLst>
          </a:prstGeom>
          <a:solidFill>
            <a:srgbClr val="FFFFFF"/>
          </a:solidFill>
          <a:ln w="12700">
            <a:solidFill>
              <a:srgbClr val="DCD9D0"/>
            </a:solidFill>
            <a:prstDash val="solid"/>
          </a:ln>
        </p:spPr>
      </p:sp>
      <p:sp>
        <p:nvSpPr>
          <p:cNvPr id="7" name="Text 5"/>
          <p:cNvSpPr/>
          <p:nvPr/>
        </p:nvSpPr>
        <p:spPr>
          <a:xfrm>
            <a:off x="1005840"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ENGINE LUẬT  ·  14 LUẬT XÁC ĐỊNH</a:t>
            </a:r>
            <a:endParaRPr lang="en-US" sz="1050" dirty="0"/>
          </a:p>
        </p:txBody>
      </p:sp>
      <p:sp>
        <p:nvSpPr>
          <p:cNvPr id="8" name="Text 6"/>
          <p:cNvSpPr/>
          <p:nvPr/>
        </p:nvSpPr>
        <p:spPr>
          <a:xfrm>
            <a:off x="1005840"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level: safe | warning | danger</a:t>
            </a:r>
            <a:endParaRPr lang="en-US" sz="1400" dirty="0"/>
          </a:p>
        </p:txBody>
      </p:sp>
      <p:sp>
        <p:nvSpPr>
          <p:cNvPr id="9" name="Text 7"/>
          <p:cNvSpPr/>
          <p:nvPr/>
        </p:nvSpPr>
        <p:spPr>
          <a:xfrm>
            <a:off x="1005840"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Quyết định mức cảnh báo. AI không chạm vào trường này.</a:t>
            </a:r>
            <a:endParaRPr lang="en-US" sz="1400" dirty="0"/>
          </a:p>
        </p:txBody>
      </p:sp>
      <p:sp>
        <p:nvSpPr>
          <p:cNvPr id="10" name="Shape 8"/>
          <p:cNvSpPr/>
          <p:nvPr/>
        </p:nvSpPr>
        <p:spPr>
          <a:xfrm>
            <a:off x="6347308" y="3337560"/>
            <a:ext cx="5158588" cy="1783080"/>
          </a:xfrm>
          <a:prstGeom prst="roundRect">
            <a:avLst>
              <a:gd name="adj" fmla="val 4615"/>
            </a:avLst>
          </a:prstGeom>
          <a:solidFill>
            <a:srgbClr val="FFFFFF"/>
          </a:solidFill>
          <a:ln w="12700">
            <a:solidFill>
              <a:srgbClr val="DCD9D0"/>
            </a:solidFill>
            <a:prstDash val="solid"/>
          </a:ln>
        </p:spPr>
      </p:sp>
      <p:sp>
        <p:nvSpPr>
          <p:cNvPr id="11" name="Text 9"/>
          <p:cNvSpPr/>
          <p:nvPr/>
        </p:nvSpPr>
        <p:spPr>
          <a:xfrm>
            <a:off x="6667348"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4338CA"/>
                </a:solidFill>
                <a:latin typeface="Consolas" pitchFamily="34" charset="0"/>
                <a:ea typeface="Consolas" pitchFamily="34" charset="-122"/>
                <a:cs typeface="Consolas" pitchFamily="34" charset="-120"/>
              </a:rPr>
              <a:t>AI  ·  TRƯỜNG RIÊNG</a:t>
            </a:r>
            <a:endParaRPr lang="en-US" sz="1050" dirty="0"/>
          </a:p>
        </p:txBody>
      </p:sp>
      <p:sp>
        <p:nvSpPr>
          <p:cNvPr id="12" name="Text 10"/>
          <p:cNvSpPr/>
          <p:nvPr/>
        </p:nvSpPr>
        <p:spPr>
          <a:xfrm>
            <a:off x="6667348"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aiAdvisory: review_required</a:t>
            </a:r>
            <a:endParaRPr lang="en-US" sz="1400" dirty="0"/>
          </a:p>
        </p:txBody>
      </p:sp>
      <p:sp>
        <p:nvSpPr>
          <p:cNvPr id="13" name="Text 11"/>
          <p:cNvSpPr/>
          <p:nvPr/>
        </p:nvSpPr>
        <p:spPr>
          <a:xfrm>
            <a:off x="6667348"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Chỉ được yêu cầu kiểm tra thủ công. AI hỏng thì verdict vẫn còn.</a:t>
            </a:r>
            <a:endParaRPr lang="en-US" sz="14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450" i="1" dirty="0">
                <a:solidFill>
                  <a:srgbClr val="B45309"/>
                </a:solidFill>
                <a:latin typeface="Calibri" pitchFamily="34" charset="0"/>
                <a:ea typeface="Calibri" pitchFamily="34" charset="-122"/>
                <a:cs typeface="Calibri" pitchFamily="34" charset="-120"/>
              </a:rPr>
              <a:t>Một lớp bảo mật để AI phán “an toàn” là lớp bảo mật sẽ nói dối vào đúng ngày quan trọng nhất.</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Con số thật — đo được, truy được nguồn</a:t>
            </a:r>
            <a:endParaRPr lang="en-US" sz="3400" dirty="0"/>
          </a:p>
        </p:txBody>
      </p:sp>
      <p:sp>
        <p:nvSpPr>
          <p:cNvPr id="4" name="Shape 2"/>
          <p:cNvSpPr/>
          <p:nvPr/>
        </p:nvSpPr>
        <p:spPr>
          <a:xfrm>
            <a:off x="685800" y="1874520"/>
            <a:ext cx="2327834" cy="2377440"/>
          </a:xfrm>
          <a:prstGeom prst="roundRect">
            <a:avLst>
              <a:gd name="adj" fmla="val 3535"/>
            </a:avLst>
          </a:prstGeom>
          <a:solidFill>
            <a:srgbClr val="FFFFFF"/>
          </a:solidFill>
          <a:ln w="12700">
            <a:solidFill>
              <a:srgbClr val="047857"/>
            </a:solidFill>
            <a:prstDash val="solid"/>
          </a:ln>
        </p:spPr>
      </p:sp>
      <p:sp>
        <p:nvSpPr>
          <p:cNvPr id="5" name="Text 3"/>
          <p:cNvSpPr/>
          <p:nvPr/>
        </p:nvSpPr>
        <p:spPr>
          <a:xfrm>
            <a:off x="914400" y="2057400"/>
            <a:ext cx="1870634" cy="868680"/>
          </a:xfrm>
          <a:prstGeom prst="rect">
            <a:avLst/>
          </a:prstGeom>
          <a:noFill/>
          <a:ln/>
        </p:spPr>
        <p:txBody>
          <a:bodyPr wrap="square" lIns="0" tIns="0" rIns="0" bIns="0" rtlCol="0" anchor="ctr"/>
          <a:lstStyle/>
          <a:p>
            <a:pPr indent="0" marL="0">
              <a:buNone/>
            </a:pPr>
            <a:r>
              <a:rPr lang="en-US" sz="4400" b="1" dirty="0">
                <a:solidFill>
                  <a:srgbClr val="047857"/>
                </a:solidFill>
                <a:latin typeface="Trebuchet MS" pitchFamily="34" charset="0"/>
                <a:ea typeface="Trebuchet MS" pitchFamily="34" charset="-122"/>
                <a:cs typeface="Trebuchet MS" pitchFamily="34" charset="-120"/>
              </a:rPr>
              <a:t>0</a:t>
            </a:r>
            <a:endParaRPr lang="en-US" sz="4400" dirty="0"/>
          </a:p>
        </p:txBody>
      </p:sp>
      <p:sp>
        <p:nvSpPr>
          <p:cNvPr id="6" name="Text 4"/>
          <p:cNvSpPr/>
          <p:nvPr/>
        </p:nvSpPr>
        <p:spPr>
          <a:xfrm>
            <a:off x="914400"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giao dịch bị CÁO BUỘC</a:t>
            </a:r>
            <a:endParaRPr lang="en-US" sz="1450" dirty="0"/>
          </a:p>
        </p:txBody>
      </p:sp>
      <p:sp>
        <p:nvSpPr>
          <p:cNvPr id="7" name="Text 5"/>
          <p:cNvSpPr/>
          <p:nvPr/>
        </p:nvSpPr>
        <p:spPr>
          <a:xfrm>
            <a:off x="914400"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trên 9 giao dịch SPL công khai đã lưu offline · 7 ở mức Cần xem kỹ · cohort chưa gán nhãn ground truth</a:t>
            </a:r>
            <a:endParaRPr lang="en-US" sz="1100" dirty="0"/>
          </a:p>
        </p:txBody>
      </p:sp>
      <p:sp>
        <p:nvSpPr>
          <p:cNvPr id="8" name="Shape 6"/>
          <p:cNvSpPr/>
          <p:nvPr/>
        </p:nvSpPr>
        <p:spPr>
          <a:xfrm>
            <a:off x="3516554" y="1874520"/>
            <a:ext cx="2327834" cy="2377440"/>
          </a:xfrm>
          <a:prstGeom prst="roundRect">
            <a:avLst>
              <a:gd name="adj" fmla="val 3535"/>
            </a:avLst>
          </a:prstGeom>
          <a:solidFill>
            <a:srgbClr val="FFFFFF"/>
          </a:solidFill>
          <a:ln w="12700">
            <a:solidFill>
              <a:srgbClr val="DCD9D0"/>
            </a:solidFill>
            <a:prstDash val="solid"/>
          </a:ln>
        </p:spPr>
      </p:sp>
      <p:sp>
        <p:nvSpPr>
          <p:cNvPr id="9" name="Text 7"/>
          <p:cNvSpPr/>
          <p:nvPr/>
        </p:nvSpPr>
        <p:spPr>
          <a:xfrm>
            <a:off x="3745154"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391</a:t>
            </a:r>
            <a:endParaRPr lang="en-US" sz="4400" dirty="0"/>
          </a:p>
        </p:txBody>
      </p:sp>
      <p:sp>
        <p:nvSpPr>
          <p:cNvPr id="10" name="Text 8"/>
          <p:cNvSpPr/>
          <p:nvPr/>
        </p:nvSpPr>
        <p:spPr>
          <a:xfrm>
            <a:off x="3745154"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test tự động</a:t>
            </a:r>
            <a:endParaRPr lang="en-US" sz="1450" dirty="0"/>
          </a:p>
        </p:txBody>
      </p:sp>
      <p:sp>
        <p:nvSpPr>
          <p:cNvPr id="11" name="Text 9"/>
          <p:cNvSpPr/>
          <p:nvPr/>
        </p:nvSpPr>
        <p:spPr>
          <a:xfrm>
            <a:off x="3745154"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chạy lại mỗi lần deploy</a:t>
            </a:r>
            <a:endParaRPr lang="en-US" sz="1100" dirty="0"/>
          </a:p>
        </p:txBody>
      </p:sp>
      <p:sp>
        <p:nvSpPr>
          <p:cNvPr id="12" name="Shape 10"/>
          <p:cNvSpPr/>
          <p:nvPr/>
        </p:nvSpPr>
        <p:spPr>
          <a:xfrm>
            <a:off x="6347308" y="1874520"/>
            <a:ext cx="2327834" cy="2377440"/>
          </a:xfrm>
          <a:prstGeom prst="roundRect">
            <a:avLst>
              <a:gd name="adj" fmla="val 3535"/>
            </a:avLst>
          </a:prstGeom>
          <a:solidFill>
            <a:srgbClr val="FFFFFF"/>
          </a:solidFill>
          <a:ln w="12700">
            <a:solidFill>
              <a:srgbClr val="DCD9D0"/>
            </a:solidFill>
            <a:prstDash val="solid"/>
          </a:ln>
        </p:spPr>
      </p:sp>
      <p:sp>
        <p:nvSpPr>
          <p:cNvPr id="13" name="Text 11"/>
          <p:cNvSpPr/>
          <p:nvPr/>
        </p:nvSpPr>
        <p:spPr>
          <a:xfrm>
            <a:off x="6575908"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14</a:t>
            </a:r>
            <a:endParaRPr lang="en-US" sz="4400" dirty="0"/>
          </a:p>
        </p:txBody>
      </p:sp>
      <p:sp>
        <p:nvSpPr>
          <p:cNvPr id="14" name="Text 12"/>
          <p:cNvSpPr/>
          <p:nvPr/>
        </p:nvSpPr>
        <p:spPr>
          <a:xfrm>
            <a:off x="6575908"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luật xác định</a:t>
            </a:r>
            <a:endParaRPr lang="en-US" sz="1450" dirty="0"/>
          </a:p>
        </p:txBody>
      </p:sp>
      <p:sp>
        <p:nvSpPr>
          <p:cNvPr id="15" name="Text 13"/>
          <p:cNvSpPr/>
          <p:nvPr/>
        </p:nvSpPr>
        <p:spPr>
          <a:xfrm>
            <a:off x="6575908"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33 mẫu kiểm thử</a:t>
            </a:r>
            <a:endParaRPr lang="en-US" sz="1100" dirty="0"/>
          </a:p>
        </p:txBody>
      </p:sp>
      <p:sp>
        <p:nvSpPr>
          <p:cNvPr id="16" name="Shape 14"/>
          <p:cNvSpPr/>
          <p:nvPr/>
        </p:nvSpPr>
        <p:spPr>
          <a:xfrm>
            <a:off x="9178061" y="1874520"/>
            <a:ext cx="2327834" cy="2377440"/>
          </a:xfrm>
          <a:prstGeom prst="roundRect">
            <a:avLst>
              <a:gd name="adj" fmla="val 3535"/>
            </a:avLst>
          </a:prstGeom>
          <a:solidFill>
            <a:srgbClr val="FFFFFF"/>
          </a:solidFill>
          <a:ln w="12700">
            <a:solidFill>
              <a:srgbClr val="DCD9D0"/>
            </a:solidFill>
            <a:prstDash val="solid"/>
          </a:ln>
        </p:spPr>
      </p:sp>
      <p:sp>
        <p:nvSpPr>
          <p:cNvPr id="17" name="Text 15"/>
          <p:cNvSpPr/>
          <p:nvPr/>
        </p:nvSpPr>
        <p:spPr>
          <a:xfrm>
            <a:off x="9406661" y="2057400"/>
            <a:ext cx="1870634" cy="868680"/>
          </a:xfrm>
          <a:prstGeom prst="rect">
            <a:avLst/>
          </a:prstGeom>
          <a:noFill/>
          <a:ln/>
        </p:spPr>
        <p:txBody>
          <a:bodyPr wrap="square" lIns="0" tIns="0" rIns="0" bIns="0" rtlCol="0" anchor="ctr"/>
          <a:lstStyle/>
          <a:p>
            <a:pPr indent="0" marL="0">
              <a:buNone/>
            </a:pPr>
            <a:r>
              <a:rPr lang="en-US" sz="4400" b="1" dirty="0">
                <a:solidFill>
                  <a:srgbClr val="B45309"/>
                </a:solidFill>
                <a:latin typeface="Trebuchet MS" pitchFamily="34" charset="0"/>
                <a:ea typeface="Trebuchet MS" pitchFamily="34" charset="-122"/>
                <a:cs typeface="Trebuchet MS" pitchFamily="34" charset="-120"/>
              </a:rPr>
              <a:t>82%</a:t>
            </a:r>
            <a:endParaRPr lang="en-US" sz="4400" dirty="0"/>
          </a:p>
        </p:txBody>
      </p:sp>
      <p:sp>
        <p:nvSpPr>
          <p:cNvPr id="18" name="Text 16"/>
          <p:cNvSpPr/>
          <p:nvPr/>
        </p:nvSpPr>
        <p:spPr>
          <a:xfrm>
            <a:off x="9406661"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lệnh đọc hiểu được</a:t>
            </a:r>
            <a:endParaRPr lang="en-US" sz="1450" dirty="0"/>
          </a:p>
        </p:txBody>
      </p:sp>
      <p:sp>
        <p:nvSpPr>
          <p:cNvPr id="19" name="Text 17"/>
          <p:cNvSpPr/>
          <p:nvPr/>
        </p:nvSpPr>
        <p:spPr>
          <a:xfrm>
            <a:off x="9406661"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phần còn lại KHÔNG đoán</a:t>
            </a:r>
            <a:endParaRPr lang="en-US" sz="1100" dirty="0"/>
          </a:p>
        </p:txBody>
      </p:sp>
      <p:sp>
        <p:nvSpPr>
          <p:cNvPr id="20" name="Text 18"/>
          <p:cNvSpPr/>
          <p:nvPr/>
        </p:nvSpPr>
        <p:spPr>
          <a:xfrm>
            <a:off x="685800" y="4572000"/>
            <a:ext cx="10820095" cy="384048"/>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Mọi con số sinh ra từ một phép đo có file trong repo, không có số nào gõ tay.</a:t>
            </a:r>
            <a:endParaRPr lang="en-US" sz="1500" dirty="0"/>
          </a:p>
        </p:txBody>
      </p:sp>
      <p:sp>
        <p:nvSpPr>
          <p:cNvPr id="21" name="Text 19"/>
          <p:cNvSpPr/>
          <p:nvPr/>
        </p:nvSpPr>
        <p:spPr>
          <a:xfrm>
            <a:off x="685800" y="4974336"/>
            <a:ext cx="10820095" cy="365760"/>
          </a:xfrm>
          <a:prstGeom prst="rect">
            <a:avLst/>
          </a:prstGeom>
          <a:noFill/>
          <a:ln/>
        </p:spPr>
        <p:txBody>
          <a:bodyPr wrap="square" lIns="0" tIns="0" rIns="0" bIns="0" rtlCol="0" anchor="ctr"/>
          <a:lstStyle/>
          <a:p>
            <a:pPr indent="0" marL="0">
              <a:buNone/>
            </a:pPr>
            <a:r>
              <a:rPr lang="en-US" sz="1200" dirty="0">
                <a:solidFill>
                  <a:srgbClr val="B45309"/>
                </a:solidFill>
                <a:latin typeface="Consolas" pitchFamily="34" charset="0"/>
                <a:ea typeface="Consolas" pitchFamily="34" charset="-122"/>
                <a:cs typeface="Consolas" pitchFamily="34" charset="-120"/>
              </a:rPr>
              <a:t>neitln.github.io/Custos-Solana/so-lieu.html  —  mỗi con số kèm cách đo và ngày đo</a:t>
            </a:r>
            <a:endParaRPr lang="en-US" sz="1200" dirty="0"/>
          </a:p>
        </p:txBody>
      </p:sp>
      <p:sp>
        <p:nvSpPr>
          <p:cNvPr id="22" name="Text 20"/>
          <p:cNvSpPr/>
          <p:nvPr/>
        </p:nvSpPr>
        <p:spPr>
          <a:xfrm>
            <a:off x="685800" y="5413248"/>
            <a:ext cx="10820095" cy="384048"/>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Đã hỏi 20 người (29/08 và 30/08/2026): 13/20 nêu được hậu quả · 4/20 vẫn ký. Chưa ví/dApp nào cam kết tích hợp.</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2148840"/>
            <a:ext cx="10424160" cy="1645920"/>
          </a:xfrm>
          <a:prstGeom prst="rect">
            <a:avLst/>
          </a:prstGeom>
          <a:noFill/>
          <a:ln/>
        </p:spPr>
        <p:txBody>
          <a:bodyPr wrap="square" lIns="0" tIns="0" rIns="0" bIns="0" rtlCol="0" anchor="ctr"/>
          <a:lstStyle/>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Custos không bao giờ nói “an toàn”</a:t>
            </a:r>
            <a:endParaRPr lang="en-US" sz="3800" dirty="0"/>
          </a:p>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khi nó chưa chắc.</a:t>
            </a:r>
            <a:endParaRPr lang="en-US" sz="3800" dirty="0"/>
          </a:p>
        </p:txBody>
      </p:sp>
      <p:sp>
        <p:nvSpPr>
          <p:cNvPr id="4" name="Text 2"/>
          <p:cNvSpPr/>
          <p:nvPr/>
        </p:nvSpPr>
        <p:spPr>
          <a:xfrm>
            <a:off x="685800" y="3886200"/>
            <a:ext cx="10424160" cy="457200"/>
          </a:xfrm>
          <a:prstGeom prst="rect">
            <a:avLst/>
          </a:prstGeom>
          <a:noFill/>
          <a:ln/>
        </p:spPr>
        <p:txBody>
          <a:bodyPr wrap="square" lIns="0" tIns="0" rIns="0" bIns="0" rtlCol="0" anchor="ctr"/>
          <a:lstStyle/>
          <a:p>
            <a:pPr indent="0" marL="0">
              <a:buNone/>
            </a:pPr>
            <a:r>
              <a:rPr lang="en-US" sz="1800" dirty="0">
                <a:solidFill>
                  <a:srgbClr val="B45309"/>
                </a:solidFill>
                <a:latin typeface="Calibri" pitchFamily="34" charset="0"/>
                <a:ea typeface="Calibri" pitchFamily="34" charset="-122"/>
                <a:cs typeface="Calibri" pitchFamily="34" charset="-120"/>
              </a:rPr>
              <a:t>Nó nói ra hậu quả đo được — và nói ra cả phần nó chưa đo được.</a:t>
            </a:r>
            <a:endParaRPr lang="en-US" sz="1800" dirty="0"/>
          </a:p>
        </p:txBody>
      </p:sp>
      <p:sp>
        <p:nvSpPr>
          <p:cNvPr id="5" name="Text 3"/>
          <p:cNvSpPr/>
          <p:nvPr/>
        </p:nvSpPr>
        <p:spPr>
          <a:xfrm>
            <a:off x="685800" y="4709160"/>
            <a:ext cx="10424160" cy="1097280"/>
          </a:xfrm>
          <a:prstGeom prst="rect">
            <a:avLst/>
          </a:prstGeom>
          <a:noFill/>
          <a:ln/>
        </p:spPr>
        <p:txBody>
          <a:bodyPr wrap="square" lIns="0" tIns="0" rIns="0" bIns="0" rtlCol="0" anchor="ctr"/>
          <a:lstStyle/>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Demo:  neitln.github.io/Custos-Solana</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Số liệu:  neitln.github.io/Custos-Solana/so-lieu.html</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Mã nguồn:  github.com/NeitLN/Custos-Solana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UniHackFest 2026</dc:title>
  <dc:subject>PptxGenJS Presentation</dc:subject>
  <dc:creator>Đội Too Hard</dc:creator>
  <cp:lastModifiedBy>Đội Too Hard</cp:lastModifiedBy>
  <cp:revision>1</cp:revision>
  <dcterms:created xsi:type="dcterms:W3CDTF">2026-09-06T18:24:41Z</dcterms:created>
  <dcterms:modified xsi:type="dcterms:W3CDTF">2026-09-06T18:24:41Z</dcterms:modified>
</cp:coreProperties>
</file>