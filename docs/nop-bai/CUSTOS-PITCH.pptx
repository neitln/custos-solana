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3:10–3:25 — Câu chốt của slide này: giấy phép MIT KHOÁ mô hình, không phải ngược lại. Ai cũng fork được SDK, nên thứ bán được phải là thứ không copy đi cùng repo: luật được cập nhật, người chịu trách nhiệm, cam kết vận hành.
[!] KHÔNG nói $49 là giá của Custos. Đó là giá Helius/QuickNode — nó chứng minh người mua QUEN trả tiền hạ tầng theo tháng, không chứng minh gì về giá của mình.
[!] Nếu bị hỏi 'ai duyệt chi' — trả lời thẳng: CHƯA BIẾT, đó là câu đầu tiên buyer interview sẽ hỏi.
[!] Nếu bị hỏi 'lỡ họ tự làm được thì sao' — đó là điều kiện mô hình sai, đã ghi trong docs/MO-HINH-DOANH-THU.md mục 6. Nói được điều kiện mình sai là điểm cộng, không phải điểm trừ.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Bán gì được, khi SDK là mã nguồn mở</a:t>
            </a:r>
            <a:endParaRPr lang="en-US" sz="3400" dirty="0"/>
          </a:p>
        </p:txBody>
      </p:sp>
      <p:sp>
        <p:nvSpPr>
          <p:cNvPr id="4" name="Shape 2"/>
          <p:cNvSpPr/>
          <p:nvPr/>
        </p:nvSpPr>
        <p:spPr>
          <a:xfrm>
            <a:off x="685800" y="1874520"/>
            <a:ext cx="5158588" cy="2286000"/>
          </a:xfrm>
          <a:prstGeom prst="roundRect">
            <a:avLst>
              <a:gd name="adj" fmla="val 3600"/>
            </a:avLst>
          </a:prstGeom>
          <a:solidFill>
            <a:srgbClr val="FFFFFF"/>
          </a:solidFill>
          <a:ln w="12700">
            <a:solidFill>
              <a:srgbClr val="DCD9D0"/>
            </a:solidFill>
            <a:prstDash val="solid"/>
          </a:ln>
        </p:spPr>
      </p:sp>
      <p:sp>
        <p:nvSpPr>
          <p:cNvPr id="5" name="Text 3"/>
          <p:cNvSpPr/>
          <p:nvPr/>
        </p:nvSpPr>
        <p:spPr>
          <a:xfrm>
            <a:off x="1005840"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MIỄN PHÍ — MIT, FORK ĐƯỢC</a:t>
            </a:r>
            <a:endParaRPr lang="en-US" sz="1050" dirty="0"/>
          </a:p>
        </p:txBody>
      </p:sp>
      <p:sp>
        <p:nvSpPr>
          <p:cNvPr id="6" name="Text 4"/>
          <p:cNvSpPr/>
          <p:nvPr/>
        </p:nvSpPr>
        <p:spPr>
          <a:xfrm>
            <a:off x="1005840"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SDK · 14 luật · lớp neo AI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Tự host, tự sửa, tự chịu</a:t>
            </a:r>
            <a:endParaRPr lang="en-US" sz="1500" dirty="0"/>
          </a:p>
        </p:txBody>
      </p:sp>
      <p:sp>
        <p:nvSpPr>
          <p:cNvPr id="7" name="Shape 5"/>
          <p:cNvSpPr/>
          <p:nvPr/>
        </p:nvSpPr>
        <p:spPr>
          <a:xfrm>
            <a:off x="6347308" y="1874520"/>
            <a:ext cx="5158588" cy="2286000"/>
          </a:xfrm>
          <a:prstGeom prst="roundRect">
            <a:avLst>
              <a:gd name="adj" fmla="val 3600"/>
            </a:avLst>
          </a:prstGeom>
          <a:solidFill>
            <a:srgbClr val="FDF3E3"/>
          </a:solidFill>
          <a:ln w="12700">
            <a:solidFill>
              <a:srgbClr val="F5A524"/>
            </a:solidFill>
            <a:prstDash val="solid"/>
          </a:ln>
        </p:spPr>
      </p:sp>
      <p:sp>
        <p:nvSpPr>
          <p:cNvPr id="8" name="Text 6"/>
          <p:cNvSpPr/>
          <p:nvPr/>
        </p:nvSpPr>
        <p:spPr>
          <a:xfrm>
            <a:off x="6667348"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TRẢ TIỀN — KHÔNG FORK ĐƯỢC</a:t>
            </a:r>
            <a:endParaRPr lang="en-US" sz="1050" dirty="0"/>
          </a:p>
        </p:txBody>
      </p:sp>
      <p:sp>
        <p:nvSpPr>
          <p:cNvPr id="9" name="Text 7"/>
          <p:cNvSpPr/>
          <p:nvPr/>
        </p:nvSpPr>
        <p:spPr>
          <a:xfrm>
            <a:off x="6667348"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Luật mới khi Solana đổi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Decoder cho chương trình riêng</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Có người trả lời khi tích hợp</a:t>
            </a:r>
            <a:endParaRPr lang="en-US" sz="1500" dirty="0"/>
          </a:p>
        </p:txBody>
      </p:sp>
      <p:sp>
        <p:nvSpPr>
          <p:cNvPr id="10" name="Shape 8"/>
          <p:cNvSpPr/>
          <p:nvPr/>
        </p:nvSpPr>
        <p:spPr>
          <a:xfrm>
            <a:off x="685800" y="4297680"/>
            <a:ext cx="10820095" cy="868680"/>
          </a:xfrm>
          <a:prstGeom prst="roundRect">
            <a:avLst>
              <a:gd name="adj" fmla="val 9474"/>
            </a:avLst>
          </a:prstGeom>
          <a:solidFill>
            <a:srgbClr val="FFFFFF"/>
          </a:solidFill>
          <a:ln w="12700">
            <a:solidFill>
              <a:srgbClr val="DCD9D0"/>
            </a:solidFill>
            <a:prstDash val="solid"/>
          </a:ln>
        </p:spPr>
      </p:sp>
      <p:sp>
        <p:nvSpPr>
          <p:cNvPr id="11" name="Text 9"/>
          <p:cNvSpPr/>
          <p:nvPr/>
        </p:nvSpPr>
        <p:spPr>
          <a:xfrm>
            <a:off x="1051560" y="4297680"/>
            <a:ext cx="10088575" cy="86868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Chi phí biên là GIỜ NGƯỜI, không phải lượt gọi: RPC chỉ $0,0000325 một lượt kiểm tra.</a:t>
            </a:r>
            <a:endParaRPr lang="en-US" sz="1500" dirty="0"/>
          </a:p>
        </p:txBody>
      </p:sp>
      <p:sp>
        <p:nvSpPr>
          <p:cNvPr id="12" name="Text 10"/>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$0 · $49 · $300–800 mỗi tháng — cả ba đều là GIẢ ĐỊNH. Chưa hỏi người mua nào, nên chưa có giá nào được xác nhận.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473</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2026-09-09T06:19:10Z</dcterms:created>
  <dcterms:modified xsi:type="dcterms:W3CDTF">2026-09-09T06:19:10Z</dcterms:modified>
</cp:coreProperties>
</file>